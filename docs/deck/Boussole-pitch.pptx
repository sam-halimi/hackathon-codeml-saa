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(0:00–0:50)
Imaginez Léa. Elle est fictive, mais tout ce qui lui arrive est documenté. Léa a 22 ans. Il est 3 h du matin. Elle se réveille chez quelqu'un qu'elle connaît à peine, avec un trou de près de trois heures dans sa soirée. À l'urgence, elle raconte son histoire quatre fois. Chaque fois, on lui demande l'heure exacte. Elle ne s'en souvient pas. Et elle ne sait pas encore si elle veut porter plainte. [PAUSE]
Le dossier de Léa va fuir à quatre endroits. Un : où aller ? En 2020, une victime a fait trois hôpitaux de Montréal avant d'obtenir une trousse. Deux : la première nuit. La preuve expire : après 24 heures, le sang ne révèle plus la plupart des drogues. Trois : la police. Seulement 6 % des agressions sont signalées ; sur mille, 640 finissent sans accusation. Quatre : le tribunal. Près d'une cause sur trois dépasse les délais Jordan.
Le problème n'est pas la parole des victimes. C'est le dossier qui se construit mal, trop tard, au mauvais endroit.
PERSONNE 2 (0:50–1:05)
[SEULEMENT SI VRAI : une phrase personnelle, sinon la supprimer.]
Au Québec, une femme sur quatre. Statistiquement, chacun de nous connaît quelqu'un qui l'a vécu, souvent sans le savoir. On est trois étudiants, et on a décidé de travailler sur la sécurité qui compte le plus : celle d'une personne, et de sa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3 (1:05–2:05)
Avant le clip : On ne répare pas les tribunaux. On répare la première nuit, celle où tout commence et où la preuve se perd. Voici Boussole. [CLIC : lancer le clip]
0–3 s : Retour à 3 h du matin.
3–8 s : Léa consent étape par étape. Elle peut refuser un prélèvement, et décider plus tard pour la plainte.
8–16 s : Trente heures depuis les faits, substance soupçonnée. Un moteur de règles, pas l'IA, réordonne tout : peau, encore 18 heures ; VIH, 42 heures ; le sang, c'est trop tard.
16–26 s : Claude, d'Anthropic, range les notes en chronologie où chaque ligne cite sa phrase source. Le trou de près de trois heures est signalé comme normal après une substance. Et l'IA ne voit jamais son nom.
26–29 s : L'IA est une secrétaire, jamais un juge. L'humain valide chaque ligne.
29–35 s : À l'export, chaque entrée est chaînée par SHA-256. Une retouche, et ça se voit.
35–40 s : (silence, laisser lire)
Après le clip : Pas de score de crédibilité, pas de coupable désigné, pas de reconnaissance faciale. En production : hébergé au Canada, chiffré, évaluation Loi 25, aucun entraînement sur les données. Et rien ne part vers la police sans l'accord de Léa.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3 (1:05–2:05)
Avant le clip : On ne répare pas les tribunaux. On répare la première nuit, celle où tout commence et où la preuve se perd. Voici Boussole. [CLIC : lancer le clip]
0–3 s : Retour à 3 h du matin.
3–8 s : Léa consent étape par étape. Elle peut refuser un prélèvement, et décider plus tard pour la plainte.
8–16 s : Trente heures depuis les faits, substance soupçonnée. Un moteur de règles, pas l'IA, réordonne tout : peau, encore 18 heures ; VIH, 42 heures ; le sang, c'est trop tard.
16–26 s : Claude, d'Anthropic, range les notes en chronologie où chaque ligne cite sa phrase source. Le trou de près de trois heures est signalé comme normal après une substance. Et l'IA ne voit jamais son nom.
26–29 s : L'IA est une secrétaire, jamais un juge. L'humain valide chaque ligne.
29–35 s : À l'export, chaque entrée est chaînée par SHA-256. Une retouche, et ça se voit.
35–40 s : (silence, laisser lire)
Après le clip : Pas de score de crédibilité, pas de coupable désigné, pas de reconnaissance faciale. En production : hébergé au Canada, chiffré, évaluation Loi 25, aucun entraînement sur les données. Et rien ne part vers la police sans l'accord de Léa.
PLAN B (diapo cachée) : même texte en 3 temps, en pointant les 3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 1 (2:05–2:40)
Qui paie ? Les établissements de santé, CISSS et CIUSSS, qui hébergent les centres désignés dans les 17 régions. Un cofinancement est possible par les fonds d'aide aux victimes. Notre hypothèse : une licence SaaS par centre et par an, plus la formation et des modules de règles par juridiction.
La police et le DPCP reçoivent le dossier, mais ne l'achètent pas : c'est un choix de confiance. [PAUSE] Pour les victimes, c'est gratuit, toujours.
Track-Kit suit la boîte de la trousse jusqu'au labo. Nous, on accompagne la personne et son dossier, pendant la première nuit. Et c'est le moment : 190 recommandations dans Rebâtir la confiance, un tribunal spécialisé voté à l'unanimité.
PERSONNE 2 (2:40–3:00)
Le prototype est en ligne : scannez le code. Données fictives, réponse d'IA préenregistrée dans la démo publique. Ce qu'on cherche : un centre désigné pour un pilote de trois mois. On mesurera les récits répétés, les prélèvements dans les délais et le temps administratif. [PAUSE] On ne remplace pas l'humain auprès de Léa. On lui rend le temps de l'être. (2 s de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457200" y="365760"/>
            <a:ext cx="384048" cy="384048"/>
          </a:xfrm>
          <a:prstGeom prst="ellipse">
            <a:avLst/>
          </a:prstGeom>
          <a:ln w="25400">
            <a:solidFill>
              <a:srgbClr val="E8A33D"/>
            </a:solidFill>
            <a:prstDash val="solid"/>
          </a:ln>
        </p:spPr>
      </p:sp>
      <p:sp>
        <p:nvSpPr>
          <p:cNvPr id="3" name="Shape 1"/>
          <p:cNvSpPr/>
          <p:nvPr/>
        </p:nvSpPr>
        <p:spPr>
          <a:xfrm>
            <a:off x="580644" y="393192"/>
            <a:ext cx="137160" cy="329184"/>
          </a:xfrm>
          <a:prstGeom prst="diamond">
            <a:avLst/>
          </a:prstGeom>
          <a:solidFill>
            <a:srgbClr val="E8A33D"/>
          </a:solidFill>
          <a:ln w="12700">
            <a:solidFill>
              <a:srgbClr val="E8A33D"/>
            </a:solidFill>
            <a:prstDash val="solid"/>
          </a:ln>
        </p:spPr>
      </p:sp>
      <p:sp>
        <p:nvSpPr>
          <p:cNvPr id="4" name="Text 2"/>
          <p:cNvSpPr txBox="1"/>
          <p:nvPr/>
        </p:nvSpPr>
        <p:spPr>
          <a:xfrm>
            <a:off x="914400" y="347472"/>
            <a:ext cx="2743200" cy="420624"/>
          </a:xfrm>
          <a:prstGeom prst="rect">
            <a:avLst/>
          </a:prstGeom>
          <a:noFill/>
          <a:ln/>
        </p:spPr>
        <p:txBody>
          <a:bodyPr wrap="square" lIns="0" tIns="0" rIns="0" bIns="0" rtlCol="0" anchor="ctr"/>
          <a:lstStyle/>
          <a:p>
            <a:pPr indent="0" marL="0">
              <a:buNone/>
            </a:pPr>
            <a:r>
              <a:rPr lang="en-US" sz="2200" b="1" dirty="0">
                <a:solidFill>
                  <a:srgbClr val="F6F1EA"/>
                </a:solidFill>
              </a:rPr>
              <a:t>Boussole</a:t>
            </a:r>
            <a:endParaRPr lang="en-US" sz="2200" dirty="0"/>
          </a:p>
        </p:txBody>
      </p:sp>
      <p:sp>
        <p:nvSpPr>
          <p:cNvPr id="5" name="Text 3"/>
          <p:cNvSpPr txBox="1"/>
          <p:nvPr/>
        </p:nvSpPr>
        <p:spPr>
          <a:xfrm>
            <a:off x="7863840" y="182880"/>
            <a:ext cx="3931920" cy="1371600"/>
          </a:xfrm>
          <a:prstGeom prst="rect">
            <a:avLst/>
          </a:prstGeom>
          <a:noFill/>
          <a:ln/>
        </p:spPr>
        <p:txBody>
          <a:bodyPr wrap="square" lIns="0" tIns="0" rIns="0" bIns="0" rtlCol="0" anchor="ctr"/>
          <a:lstStyle/>
          <a:p>
            <a:pPr algn="r" indent="0" marL="0">
              <a:buNone/>
            </a:pPr>
            <a:r>
              <a:rPr lang="en-US" sz="9600" b="1" dirty="0">
                <a:solidFill>
                  <a:srgbClr val="1B2B44"/>
                </a:solidFill>
              </a:rPr>
              <a:t>3:00</a:t>
            </a:r>
            <a:endParaRPr lang="en-US" sz="9600" dirty="0"/>
          </a:p>
        </p:txBody>
      </p:sp>
      <p:sp>
        <p:nvSpPr>
          <p:cNvPr id="6" name="Text 4"/>
          <p:cNvSpPr txBox="1"/>
          <p:nvPr/>
        </p:nvSpPr>
        <p:spPr>
          <a:xfrm>
            <a:off x="457200" y="1143000"/>
            <a:ext cx="11247120" cy="822960"/>
          </a:xfrm>
          <a:prstGeom prst="rect">
            <a:avLst/>
          </a:prstGeom>
          <a:noFill/>
          <a:ln/>
        </p:spPr>
        <p:txBody>
          <a:bodyPr wrap="square" lIns="0" tIns="0" rIns="0" bIns="0" rtlCol="0" anchor="ctr"/>
          <a:lstStyle/>
          <a:p>
            <a:pPr indent="0" marL="0">
              <a:buNone/>
            </a:pPr>
            <a:r>
              <a:rPr lang="en-US" sz="4000" b="1" dirty="0">
                <a:solidFill>
                  <a:srgbClr val="F6F1EA"/>
                </a:solidFill>
              </a:rPr>
              <a:t>La preuve a une date </a:t>
            </a:r>
            <a:pPr indent="0" marL="0">
              <a:buNone/>
            </a:pPr>
            <a:r>
              <a:rPr lang="en-US" sz="4000" b="1" dirty="0">
                <a:solidFill>
                  <a:srgbClr val="C8553D"/>
                </a:solidFill>
              </a:rPr>
              <a:t>d'expiration</a:t>
            </a:r>
            <a:endParaRPr lang="en-US" sz="4000" dirty="0"/>
          </a:p>
        </p:txBody>
      </p:sp>
      <p:sp>
        <p:nvSpPr>
          <p:cNvPr id="7" name="Text 5"/>
          <p:cNvSpPr txBox="1"/>
          <p:nvPr/>
        </p:nvSpPr>
        <p:spPr>
          <a:xfrm>
            <a:off x="457200" y="1920240"/>
            <a:ext cx="10972800" cy="457200"/>
          </a:xfrm>
          <a:prstGeom prst="rect">
            <a:avLst/>
          </a:prstGeom>
          <a:noFill/>
          <a:ln/>
        </p:spPr>
        <p:txBody>
          <a:bodyPr wrap="square" lIns="0" tIns="0" rIns="0" bIns="0" rtlCol="0" anchor="ctr"/>
          <a:lstStyle/>
          <a:p>
            <a:pPr indent="0" marL="0">
              <a:buNone/>
            </a:pPr>
            <a:r>
              <a:rPr lang="en-US" sz="2000" dirty="0">
                <a:solidFill>
                  <a:srgbClr val="A9B1BD"/>
                </a:solidFill>
              </a:rPr>
              <a:t>Le dossier fuit à 4 endroits</a:t>
            </a:r>
            <a:endParaRPr lang="en-US" sz="2000" dirty="0"/>
          </a:p>
        </p:txBody>
      </p:sp>
      <p:sp>
        <p:nvSpPr>
          <p:cNvPr id="8" name="Shape 6"/>
          <p:cNvSpPr/>
          <p:nvPr/>
        </p:nvSpPr>
        <p:spPr>
          <a:xfrm>
            <a:off x="457200" y="2697480"/>
            <a:ext cx="2651760" cy="2834640"/>
          </a:xfrm>
          <a:prstGeom prst="roundRect">
            <a:avLst>
              <a:gd name="adj" fmla="val 4138"/>
            </a:avLst>
          </a:prstGeom>
          <a:solidFill>
            <a:srgbClr val="1B2B44"/>
          </a:solidFill>
          <a:ln w="6350">
            <a:solidFill>
              <a:srgbClr val="1B2B44"/>
            </a:solidFill>
            <a:prstDash val="solid"/>
          </a:ln>
        </p:spPr>
      </p:sp>
      <p:sp>
        <p:nvSpPr>
          <p:cNvPr id="9" name="Text 7"/>
          <p:cNvSpPr txBox="1"/>
          <p:nvPr/>
        </p:nvSpPr>
        <p:spPr>
          <a:xfrm>
            <a:off x="685800" y="2926080"/>
            <a:ext cx="2194560" cy="365760"/>
          </a:xfrm>
          <a:prstGeom prst="rect">
            <a:avLst/>
          </a:prstGeom>
          <a:noFill/>
          <a:ln/>
        </p:spPr>
        <p:txBody>
          <a:bodyPr wrap="square" lIns="0" tIns="0" rIns="0" bIns="0" rtlCol="0" anchor="ctr"/>
          <a:lstStyle/>
          <a:p>
            <a:pPr indent="0" marL="0">
              <a:buNone/>
            </a:pPr>
            <a:r>
              <a:rPr lang="en-US" sz="1600" b="1" dirty="0">
                <a:solidFill>
                  <a:srgbClr val="F6F1EA"/>
                </a:solidFill>
              </a:rPr>
              <a:t>1 · Où aller ?</a:t>
            </a:r>
            <a:endParaRPr lang="en-US" sz="1600" dirty="0"/>
          </a:p>
        </p:txBody>
      </p:sp>
      <p:sp>
        <p:nvSpPr>
          <p:cNvPr id="10" name="Text 8"/>
          <p:cNvSpPr txBox="1"/>
          <p:nvPr/>
        </p:nvSpPr>
        <p:spPr>
          <a:xfrm>
            <a:off x="685800" y="3429000"/>
            <a:ext cx="2194560" cy="1005840"/>
          </a:xfrm>
          <a:prstGeom prst="rect">
            <a:avLst/>
          </a:prstGeom>
          <a:noFill/>
          <a:ln/>
        </p:spPr>
        <p:txBody>
          <a:bodyPr wrap="square" lIns="0" tIns="0" rIns="0" bIns="0" rtlCol="0" anchor="ctr"/>
          <a:lstStyle/>
          <a:p>
            <a:pPr indent="0" marL="0">
              <a:buNone/>
            </a:pPr>
            <a:r>
              <a:rPr lang="en-US" sz="6000" b="1" dirty="0">
                <a:solidFill>
                  <a:srgbClr val="C8553D"/>
                </a:solidFill>
              </a:rPr>
              <a:t>3</a:t>
            </a:r>
            <a:endParaRPr lang="en-US" sz="6000" dirty="0"/>
          </a:p>
        </p:txBody>
      </p:sp>
      <p:sp>
        <p:nvSpPr>
          <p:cNvPr id="11" name="Text 9"/>
          <p:cNvSpPr txBox="1"/>
          <p:nvPr/>
        </p:nvSpPr>
        <p:spPr>
          <a:xfrm>
            <a:off x="685800" y="4526280"/>
            <a:ext cx="2194560" cy="822960"/>
          </a:xfrm>
          <a:prstGeom prst="rect">
            <a:avLst/>
          </a:prstGeom>
          <a:noFill/>
          <a:ln/>
        </p:spPr>
        <p:txBody>
          <a:bodyPr wrap="square" lIns="0" tIns="0" rIns="0" bIns="0" rtlCol="0" anchor="t"/>
          <a:lstStyle/>
          <a:p>
            <a:pPr indent="0" marL="0">
              <a:buNone/>
            </a:pPr>
            <a:r>
              <a:rPr lang="en-US" sz="1400" dirty="0">
                <a:solidFill>
                  <a:srgbClr val="F6F1EA"/>
                </a:solidFill>
              </a:rPr>
              <a:t>hôpitaux avant d'obtenir une trousse (Montréal, 2020)</a:t>
            </a:r>
            <a:endParaRPr lang="en-US" sz="1400" dirty="0"/>
          </a:p>
        </p:txBody>
      </p:sp>
      <p:sp>
        <p:nvSpPr>
          <p:cNvPr id="12" name="Shape 10"/>
          <p:cNvSpPr/>
          <p:nvPr/>
        </p:nvSpPr>
        <p:spPr>
          <a:xfrm>
            <a:off x="3322015" y="2697480"/>
            <a:ext cx="2651760" cy="2834640"/>
          </a:xfrm>
          <a:prstGeom prst="roundRect">
            <a:avLst>
              <a:gd name="adj" fmla="val 4138"/>
            </a:avLst>
          </a:prstGeom>
          <a:solidFill>
            <a:srgbClr val="1B2B44"/>
          </a:solidFill>
          <a:ln w="31750">
            <a:solidFill>
              <a:srgbClr val="E8A33D"/>
            </a:solidFill>
            <a:prstDash val="solid"/>
          </a:ln>
        </p:spPr>
      </p:sp>
      <p:sp>
        <p:nvSpPr>
          <p:cNvPr id="13" name="Text 11"/>
          <p:cNvSpPr txBox="1"/>
          <p:nvPr/>
        </p:nvSpPr>
        <p:spPr>
          <a:xfrm>
            <a:off x="3550615" y="2926080"/>
            <a:ext cx="2194560" cy="365760"/>
          </a:xfrm>
          <a:prstGeom prst="rect">
            <a:avLst/>
          </a:prstGeom>
          <a:noFill/>
          <a:ln/>
        </p:spPr>
        <p:txBody>
          <a:bodyPr wrap="square" lIns="0" tIns="0" rIns="0" bIns="0" rtlCol="0" anchor="ctr"/>
          <a:lstStyle/>
          <a:p>
            <a:pPr indent="0" marL="0">
              <a:buNone/>
            </a:pPr>
            <a:r>
              <a:rPr lang="en-US" sz="1600" b="1" dirty="0">
                <a:solidFill>
                  <a:srgbClr val="E8A33D"/>
                </a:solidFill>
              </a:rPr>
              <a:t>2 · La première nuit</a:t>
            </a:r>
            <a:endParaRPr lang="en-US" sz="1600" dirty="0"/>
          </a:p>
        </p:txBody>
      </p:sp>
      <p:sp>
        <p:nvSpPr>
          <p:cNvPr id="14" name="Text 12"/>
          <p:cNvSpPr txBox="1"/>
          <p:nvPr/>
        </p:nvSpPr>
        <p:spPr>
          <a:xfrm>
            <a:off x="3550615" y="3429000"/>
            <a:ext cx="2194560" cy="1005840"/>
          </a:xfrm>
          <a:prstGeom prst="rect">
            <a:avLst/>
          </a:prstGeom>
          <a:noFill/>
          <a:ln/>
        </p:spPr>
        <p:txBody>
          <a:bodyPr wrap="square" lIns="0" tIns="0" rIns="0" bIns="0" rtlCol="0" anchor="ctr"/>
          <a:lstStyle/>
          <a:p>
            <a:pPr indent="0" marL="0">
              <a:buNone/>
            </a:pPr>
            <a:r>
              <a:rPr lang="en-US" sz="6000" b="1" dirty="0">
                <a:solidFill>
                  <a:srgbClr val="C8553D"/>
                </a:solidFill>
              </a:rPr>
              <a:t>24 h</a:t>
            </a:r>
            <a:endParaRPr lang="en-US" sz="6000" dirty="0"/>
          </a:p>
        </p:txBody>
      </p:sp>
      <p:sp>
        <p:nvSpPr>
          <p:cNvPr id="15" name="Text 13"/>
          <p:cNvSpPr txBox="1"/>
          <p:nvPr/>
        </p:nvSpPr>
        <p:spPr>
          <a:xfrm>
            <a:off x="3550615" y="4526280"/>
            <a:ext cx="2194560" cy="822960"/>
          </a:xfrm>
          <a:prstGeom prst="rect">
            <a:avLst/>
          </a:prstGeom>
          <a:noFill/>
          <a:ln/>
        </p:spPr>
        <p:txBody>
          <a:bodyPr wrap="square" lIns="0" tIns="0" rIns="0" bIns="0" rtlCol="0" anchor="t"/>
          <a:lstStyle/>
          <a:p>
            <a:pPr indent="0" marL="0">
              <a:buNone/>
            </a:pPr>
            <a:r>
              <a:rPr lang="en-US" sz="1400" dirty="0">
                <a:solidFill>
                  <a:srgbClr val="F6F1EA"/>
                </a:solidFill>
              </a:rPr>
              <a:t>après, le sang ne révèle plus la plupart des drogues</a:t>
            </a:r>
            <a:endParaRPr lang="en-US" sz="1400" dirty="0"/>
          </a:p>
        </p:txBody>
      </p:sp>
      <p:sp>
        <p:nvSpPr>
          <p:cNvPr id="16" name="Shape 14"/>
          <p:cNvSpPr/>
          <p:nvPr/>
        </p:nvSpPr>
        <p:spPr>
          <a:xfrm>
            <a:off x="6186830" y="2697480"/>
            <a:ext cx="2651760" cy="2834640"/>
          </a:xfrm>
          <a:prstGeom prst="roundRect">
            <a:avLst>
              <a:gd name="adj" fmla="val 4138"/>
            </a:avLst>
          </a:prstGeom>
          <a:solidFill>
            <a:srgbClr val="1B2B44"/>
          </a:solidFill>
          <a:ln w="6350">
            <a:solidFill>
              <a:srgbClr val="1B2B44"/>
            </a:solidFill>
            <a:prstDash val="solid"/>
          </a:ln>
        </p:spPr>
      </p:sp>
      <p:sp>
        <p:nvSpPr>
          <p:cNvPr id="17" name="Text 15"/>
          <p:cNvSpPr txBox="1"/>
          <p:nvPr/>
        </p:nvSpPr>
        <p:spPr>
          <a:xfrm>
            <a:off x="6415430" y="2926080"/>
            <a:ext cx="2194560" cy="365760"/>
          </a:xfrm>
          <a:prstGeom prst="rect">
            <a:avLst/>
          </a:prstGeom>
          <a:noFill/>
          <a:ln/>
        </p:spPr>
        <p:txBody>
          <a:bodyPr wrap="square" lIns="0" tIns="0" rIns="0" bIns="0" rtlCol="0" anchor="ctr"/>
          <a:lstStyle/>
          <a:p>
            <a:pPr indent="0" marL="0">
              <a:buNone/>
            </a:pPr>
            <a:r>
              <a:rPr lang="en-US" sz="1600" b="1" dirty="0">
                <a:solidFill>
                  <a:srgbClr val="F6F1EA"/>
                </a:solidFill>
              </a:rPr>
              <a:t>3 · La police</a:t>
            </a:r>
            <a:endParaRPr lang="en-US" sz="1600" dirty="0"/>
          </a:p>
        </p:txBody>
      </p:sp>
      <p:sp>
        <p:nvSpPr>
          <p:cNvPr id="18" name="Text 16"/>
          <p:cNvSpPr txBox="1"/>
          <p:nvPr/>
        </p:nvSpPr>
        <p:spPr>
          <a:xfrm>
            <a:off x="6415430" y="3429000"/>
            <a:ext cx="2194560" cy="1005840"/>
          </a:xfrm>
          <a:prstGeom prst="rect">
            <a:avLst/>
          </a:prstGeom>
          <a:noFill/>
          <a:ln/>
        </p:spPr>
        <p:txBody>
          <a:bodyPr wrap="square" lIns="0" tIns="0" rIns="0" bIns="0" rtlCol="0" anchor="ctr"/>
          <a:lstStyle/>
          <a:p>
            <a:pPr indent="0" marL="0">
              <a:buNone/>
            </a:pPr>
            <a:r>
              <a:rPr lang="en-US" sz="6000" b="1" dirty="0">
                <a:solidFill>
                  <a:srgbClr val="C8553D"/>
                </a:solidFill>
              </a:rPr>
              <a:t>6 %</a:t>
            </a:r>
            <a:endParaRPr lang="en-US" sz="6000" dirty="0"/>
          </a:p>
        </p:txBody>
      </p:sp>
      <p:sp>
        <p:nvSpPr>
          <p:cNvPr id="19" name="Text 17"/>
          <p:cNvSpPr txBox="1"/>
          <p:nvPr/>
        </p:nvSpPr>
        <p:spPr>
          <a:xfrm>
            <a:off x="6415430" y="4526280"/>
            <a:ext cx="2194560" cy="822960"/>
          </a:xfrm>
          <a:prstGeom prst="rect">
            <a:avLst/>
          </a:prstGeom>
          <a:noFill/>
          <a:ln/>
        </p:spPr>
        <p:txBody>
          <a:bodyPr wrap="square" lIns="0" tIns="0" rIns="0" bIns="0" rtlCol="0" anchor="t"/>
          <a:lstStyle/>
          <a:p>
            <a:pPr indent="0" marL="0">
              <a:buNone/>
            </a:pPr>
            <a:r>
              <a:rPr lang="en-US" sz="1400" dirty="0">
                <a:solidFill>
                  <a:srgbClr val="F6F1EA"/>
                </a:solidFill>
              </a:rPr>
              <a:t>des agressions signalées · 640 / 1 000 sans accusation</a:t>
            </a:r>
            <a:endParaRPr lang="en-US" sz="1400" dirty="0"/>
          </a:p>
        </p:txBody>
      </p:sp>
      <p:sp>
        <p:nvSpPr>
          <p:cNvPr id="20" name="Shape 18"/>
          <p:cNvSpPr/>
          <p:nvPr/>
        </p:nvSpPr>
        <p:spPr>
          <a:xfrm>
            <a:off x="9051646" y="2697480"/>
            <a:ext cx="2651760" cy="2834640"/>
          </a:xfrm>
          <a:prstGeom prst="roundRect">
            <a:avLst>
              <a:gd name="adj" fmla="val 4138"/>
            </a:avLst>
          </a:prstGeom>
          <a:solidFill>
            <a:srgbClr val="1B2B44"/>
          </a:solidFill>
          <a:ln w="6350">
            <a:solidFill>
              <a:srgbClr val="1B2B44"/>
            </a:solidFill>
            <a:prstDash val="solid"/>
          </a:ln>
        </p:spPr>
      </p:sp>
      <p:sp>
        <p:nvSpPr>
          <p:cNvPr id="21" name="Text 19"/>
          <p:cNvSpPr txBox="1"/>
          <p:nvPr/>
        </p:nvSpPr>
        <p:spPr>
          <a:xfrm>
            <a:off x="9280246" y="2926080"/>
            <a:ext cx="2194560" cy="365760"/>
          </a:xfrm>
          <a:prstGeom prst="rect">
            <a:avLst/>
          </a:prstGeom>
          <a:noFill/>
          <a:ln/>
        </p:spPr>
        <p:txBody>
          <a:bodyPr wrap="square" lIns="0" tIns="0" rIns="0" bIns="0" rtlCol="0" anchor="ctr"/>
          <a:lstStyle/>
          <a:p>
            <a:pPr indent="0" marL="0">
              <a:buNone/>
            </a:pPr>
            <a:r>
              <a:rPr lang="en-US" sz="1600" b="1" dirty="0">
                <a:solidFill>
                  <a:srgbClr val="F6F1EA"/>
                </a:solidFill>
              </a:rPr>
              <a:t>4 · Le tribunal</a:t>
            </a:r>
            <a:endParaRPr lang="en-US" sz="1600" dirty="0"/>
          </a:p>
        </p:txBody>
      </p:sp>
      <p:sp>
        <p:nvSpPr>
          <p:cNvPr id="22" name="Text 20"/>
          <p:cNvSpPr txBox="1"/>
          <p:nvPr/>
        </p:nvSpPr>
        <p:spPr>
          <a:xfrm>
            <a:off x="9280246" y="3429000"/>
            <a:ext cx="2194560" cy="1005840"/>
          </a:xfrm>
          <a:prstGeom prst="rect">
            <a:avLst/>
          </a:prstGeom>
          <a:noFill/>
          <a:ln/>
        </p:spPr>
        <p:txBody>
          <a:bodyPr wrap="square" lIns="0" tIns="0" rIns="0" bIns="0" rtlCol="0" anchor="ctr"/>
          <a:lstStyle/>
          <a:p>
            <a:pPr indent="0" marL="0">
              <a:buNone/>
            </a:pPr>
            <a:r>
              <a:rPr lang="en-US" sz="6000" b="1" dirty="0">
                <a:solidFill>
                  <a:srgbClr val="C8553D"/>
                </a:solidFill>
              </a:rPr>
              <a:t>1 / 3</a:t>
            </a:r>
            <a:endParaRPr lang="en-US" sz="6000" dirty="0"/>
          </a:p>
        </p:txBody>
      </p:sp>
      <p:sp>
        <p:nvSpPr>
          <p:cNvPr id="23" name="Text 21"/>
          <p:cNvSpPr txBox="1"/>
          <p:nvPr/>
        </p:nvSpPr>
        <p:spPr>
          <a:xfrm>
            <a:off x="9280246" y="4526280"/>
            <a:ext cx="2194560" cy="822960"/>
          </a:xfrm>
          <a:prstGeom prst="rect">
            <a:avLst/>
          </a:prstGeom>
          <a:noFill/>
          <a:ln/>
        </p:spPr>
        <p:txBody>
          <a:bodyPr wrap="square" lIns="0" tIns="0" rIns="0" bIns="0" rtlCol="0" anchor="t"/>
          <a:lstStyle/>
          <a:p>
            <a:pPr indent="0" marL="0">
              <a:buNone/>
            </a:pPr>
            <a:r>
              <a:rPr lang="en-US" sz="1400" dirty="0">
                <a:solidFill>
                  <a:srgbClr val="F6F1EA"/>
                </a:solidFill>
              </a:rPr>
              <a:t>des causes dépassent les délais Jordan (2022-23)</a:t>
            </a:r>
            <a:endParaRPr lang="en-US" sz="1400" dirty="0"/>
          </a:p>
        </p:txBody>
      </p:sp>
      <p:sp>
        <p:nvSpPr>
          <p:cNvPr id="24" name="Text 22"/>
          <p:cNvSpPr txBox="1"/>
          <p:nvPr/>
        </p:nvSpPr>
        <p:spPr>
          <a:xfrm>
            <a:off x="457200" y="5715000"/>
            <a:ext cx="11247120" cy="457200"/>
          </a:xfrm>
          <a:prstGeom prst="rect">
            <a:avLst/>
          </a:prstGeom>
          <a:noFill/>
          <a:ln/>
        </p:spPr>
        <p:txBody>
          <a:bodyPr wrap="square" lIns="0" tIns="0" rIns="0" bIns="0" rtlCol="0" anchor="ctr"/>
          <a:lstStyle/>
          <a:p>
            <a:pPr indent="0" marL="0">
              <a:buNone/>
            </a:pPr>
            <a:r>
              <a:rPr lang="en-US" sz="1800" i="1" dirty="0">
                <a:solidFill>
                  <a:srgbClr val="F6F1EA"/>
                </a:solidFill>
              </a:rPr>
              <a:t>Le problème n'est pas la parole des victimes. C'est le dossier qui se construit mal, trop tard, au mauvais endroit.</a:t>
            </a:r>
            <a:endParaRPr lang="en-US" sz="1800" dirty="0"/>
          </a:p>
        </p:txBody>
      </p:sp>
      <p:sp>
        <p:nvSpPr>
          <p:cNvPr id="25" name="Text 23"/>
          <p:cNvSpPr txBox="1"/>
          <p:nvPr/>
        </p:nvSpPr>
        <p:spPr>
          <a:xfrm>
            <a:off x="457200" y="6355080"/>
            <a:ext cx="8412480" cy="320040"/>
          </a:xfrm>
          <a:prstGeom prst="rect">
            <a:avLst/>
          </a:prstGeom>
          <a:noFill/>
          <a:ln/>
        </p:spPr>
        <p:txBody>
          <a:bodyPr wrap="square" lIns="0" tIns="0" rIns="0" bIns="0" rtlCol="0" anchor="ctr"/>
          <a:lstStyle/>
          <a:p>
            <a:pPr indent="0" marL="0">
              <a:buNone/>
            </a:pPr>
            <a:r>
              <a:rPr lang="en-US" sz="1000" dirty="0">
                <a:solidFill>
                  <a:srgbClr val="A9B1BD"/>
                </a:solidFill>
              </a:rPr>
              <a:t>Léa : personnage fictif. Sources : StatCan (ESG 2019 ; 2015-19), ANSI/ASB 121, Noovo 2020, Ombudsman fédéral des victimes 2022-23, INSPQ 2018.</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457200" y="365760"/>
            <a:ext cx="384048" cy="384048"/>
          </a:xfrm>
          <a:prstGeom prst="ellipse">
            <a:avLst/>
          </a:prstGeom>
          <a:ln w="25400">
            <a:solidFill>
              <a:srgbClr val="E8A33D"/>
            </a:solidFill>
            <a:prstDash val="solid"/>
          </a:ln>
        </p:spPr>
      </p:sp>
      <p:sp>
        <p:nvSpPr>
          <p:cNvPr id="3" name="Shape 1"/>
          <p:cNvSpPr/>
          <p:nvPr/>
        </p:nvSpPr>
        <p:spPr>
          <a:xfrm>
            <a:off x="580644" y="393192"/>
            <a:ext cx="137160" cy="329184"/>
          </a:xfrm>
          <a:prstGeom prst="diamond">
            <a:avLst/>
          </a:prstGeom>
          <a:solidFill>
            <a:srgbClr val="E8A33D"/>
          </a:solidFill>
          <a:ln w="12700">
            <a:solidFill>
              <a:srgbClr val="E8A33D"/>
            </a:solidFill>
            <a:prstDash val="solid"/>
          </a:ln>
        </p:spPr>
      </p:sp>
      <p:sp>
        <p:nvSpPr>
          <p:cNvPr id="4" name="Text 2"/>
          <p:cNvSpPr txBox="1"/>
          <p:nvPr/>
        </p:nvSpPr>
        <p:spPr>
          <a:xfrm>
            <a:off x="914400" y="347472"/>
            <a:ext cx="2743200" cy="420624"/>
          </a:xfrm>
          <a:prstGeom prst="rect">
            <a:avLst/>
          </a:prstGeom>
          <a:noFill/>
          <a:ln/>
        </p:spPr>
        <p:txBody>
          <a:bodyPr wrap="square" lIns="0" tIns="0" rIns="0" bIns="0" rtlCol="0" anchor="ctr"/>
          <a:lstStyle/>
          <a:p>
            <a:pPr indent="0" marL="0">
              <a:buNone/>
            </a:pPr>
            <a:r>
              <a:rPr lang="en-US" sz="2200" b="1" dirty="0">
                <a:solidFill>
                  <a:srgbClr val="F6F1EA"/>
                </a:solidFill>
              </a:rPr>
              <a:t>Boussole</a:t>
            </a:r>
            <a:endParaRPr lang="en-US" sz="2200" dirty="0"/>
          </a:p>
        </p:txBody>
      </p:sp>
      <p:sp>
        <p:nvSpPr>
          <p:cNvPr id="5" name="Text 3"/>
          <p:cNvSpPr txBox="1"/>
          <p:nvPr/>
        </p:nvSpPr>
        <p:spPr>
          <a:xfrm>
            <a:off x="8961120" y="6419088"/>
            <a:ext cx="2834640" cy="274320"/>
          </a:xfrm>
          <a:prstGeom prst="rect">
            <a:avLst/>
          </a:prstGeom>
          <a:noFill/>
          <a:ln/>
        </p:spPr>
        <p:txBody>
          <a:bodyPr wrap="square" lIns="0" tIns="0" rIns="0" bIns="0" rtlCol="0" anchor="ctr"/>
          <a:lstStyle/>
          <a:p>
            <a:pPr algn="r" indent="0" marL="0">
              <a:buNone/>
            </a:pPr>
            <a:r>
              <a:rPr lang="en-US" sz="1000" b="1" dirty="0">
                <a:solidFill>
                  <a:srgbClr val="C8553D"/>
                </a:solidFill>
              </a:rPr>
              <a:t>DONNÉES FICTIVES · PROTOTYPE</a:t>
            </a:r>
            <a:endParaRPr lang="en-US" sz="1000" dirty="0"/>
          </a:p>
        </p:txBody>
      </p:sp>
      <p:sp>
        <p:nvSpPr>
          <p:cNvPr id="6" name="Text 4"/>
          <p:cNvSpPr txBox="1"/>
          <p:nvPr/>
        </p:nvSpPr>
        <p:spPr>
          <a:xfrm>
            <a:off x="457200" y="914400"/>
            <a:ext cx="11247120" cy="640080"/>
          </a:xfrm>
          <a:prstGeom prst="rect">
            <a:avLst/>
          </a:prstGeom>
          <a:noFill/>
          <a:ln/>
        </p:spPr>
        <p:txBody>
          <a:bodyPr wrap="square" lIns="0" tIns="0" rIns="0" bIns="0" rtlCol="0" anchor="ctr"/>
          <a:lstStyle/>
          <a:p>
            <a:pPr indent="0" marL="0">
              <a:buNone/>
            </a:pPr>
            <a:r>
              <a:rPr lang="en-US" sz="3600" b="1" dirty="0">
                <a:solidFill>
                  <a:srgbClr val="F6F1EA"/>
                </a:solidFill>
              </a:rPr>
              <a:t>La première nuit, sans perdre la preuve</a:t>
            </a:r>
            <a:endParaRPr lang="en-US" sz="3600" dirty="0"/>
          </a:p>
        </p:txBody>
      </p:sp>
      <p:sp>
        <p:nvSpPr>
          <p:cNvPr id="7" name="Shape 5"/>
          <p:cNvSpPr/>
          <p:nvPr/>
        </p:nvSpPr>
        <p:spPr>
          <a:xfrm>
            <a:off x="411480" y="1783080"/>
            <a:ext cx="7040880" cy="3986784"/>
          </a:xfrm>
          <a:prstGeom prst="roundRect">
            <a:avLst>
              <a:gd name="adj" fmla="val 1835"/>
            </a:avLst>
          </a:prstGeom>
          <a:solidFill>
            <a:srgbClr val="E8A33D"/>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828800"/>
            <a:ext cx="6949440" cy="3895344"/>
          </a:xfrm>
          <a:prstGeom prst="rect">
            <a:avLst/>
          </a:prstGeom>
        </p:spPr>
      </p:pic>
      <p:sp>
        <p:nvSpPr>
          <p:cNvPr id="9" name="Shape 6"/>
          <p:cNvSpPr/>
          <p:nvPr/>
        </p:nvSpPr>
        <p:spPr>
          <a:xfrm>
            <a:off x="7772400" y="1783080"/>
            <a:ext cx="3977640" cy="749808"/>
          </a:xfrm>
          <a:prstGeom prst="roundRect">
            <a:avLst>
              <a:gd name="adj" fmla="val 9756"/>
            </a:avLst>
          </a:prstGeom>
          <a:solidFill>
            <a:srgbClr val="1B2B44"/>
          </a:solidFill>
          <a:ln w="12700">
            <a:solidFill>
              <a:srgbClr val="1B2B44"/>
            </a:solidFill>
            <a:prstDash val="solid"/>
          </a:ln>
        </p:spPr>
      </p:sp>
      <p:sp>
        <p:nvSpPr>
          <p:cNvPr id="10" name="Text 7"/>
          <p:cNvSpPr txBox="1"/>
          <p:nvPr/>
        </p:nvSpPr>
        <p:spPr>
          <a:xfrm>
            <a:off x="7955280" y="1783080"/>
            <a:ext cx="1188720" cy="749808"/>
          </a:xfrm>
          <a:prstGeom prst="rect">
            <a:avLst/>
          </a:prstGeom>
          <a:noFill/>
          <a:ln/>
        </p:spPr>
        <p:txBody>
          <a:bodyPr wrap="square" lIns="0" tIns="0" rIns="0" bIns="0" rtlCol="0" anchor="ctr"/>
          <a:lstStyle/>
          <a:p>
            <a:pPr indent="0" marL="0">
              <a:buNone/>
            </a:pPr>
            <a:r>
              <a:rPr lang="en-US" sz="1600" b="1" dirty="0">
                <a:solidFill>
                  <a:srgbClr val="F6F1EA"/>
                </a:solidFill>
              </a:rPr>
              <a:t>RÈGLES</a:t>
            </a:r>
            <a:endParaRPr lang="en-US" sz="1600" dirty="0"/>
          </a:p>
        </p:txBody>
      </p:sp>
      <p:sp>
        <p:nvSpPr>
          <p:cNvPr id="11" name="Text 8"/>
          <p:cNvSpPr txBox="1"/>
          <p:nvPr/>
        </p:nvSpPr>
        <p:spPr>
          <a:xfrm>
            <a:off x="9098280" y="1783080"/>
            <a:ext cx="2560320" cy="749808"/>
          </a:xfrm>
          <a:prstGeom prst="rect">
            <a:avLst/>
          </a:prstGeom>
          <a:noFill/>
          <a:ln/>
        </p:spPr>
        <p:txBody>
          <a:bodyPr wrap="square" lIns="0" tIns="0" rIns="0" bIns="0" rtlCol="0" anchor="ctr"/>
          <a:lstStyle/>
          <a:p>
            <a:pPr indent="0" marL="0">
              <a:buNone/>
            </a:pPr>
            <a:r>
              <a:rPr lang="en-US" sz="1300" dirty="0">
                <a:solidFill>
                  <a:srgbClr val="F6F1EA"/>
                </a:solidFill>
              </a:rPr>
              <a:t>Délais et priorités · pas d'IA</a:t>
            </a:r>
            <a:endParaRPr lang="en-US" sz="1300" dirty="0"/>
          </a:p>
        </p:txBody>
      </p:sp>
      <p:sp>
        <p:nvSpPr>
          <p:cNvPr id="12" name="Shape 9"/>
          <p:cNvSpPr/>
          <p:nvPr/>
        </p:nvSpPr>
        <p:spPr>
          <a:xfrm>
            <a:off x="7772400" y="2651760"/>
            <a:ext cx="3977640" cy="749808"/>
          </a:xfrm>
          <a:prstGeom prst="roundRect">
            <a:avLst>
              <a:gd name="adj" fmla="val 9756"/>
            </a:avLst>
          </a:prstGeom>
          <a:solidFill>
            <a:srgbClr val="E8A33D"/>
          </a:solidFill>
          <a:ln w="12700">
            <a:solidFill>
              <a:srgbClr val="E8A33D"/>
            </a:solidFill>
            <a:prstDash val="solid"/>
          </a:ln>
        </p:spPr>
      </p:sp>
      <p:sp>
        <p:nvSpPr>
          <p:cNvPr id="13" name="Text 10"/>
          <p:cNvSpPr txBox="1"/>
          <p:nvPr/>
        </p:nvSpPr>
        <p:spPr>
          <a:xfrm>
            <a:off x="7955280" y="2651760"/>
            <a:ext cx="1188720" cy="749808"/>
          </a:xfrm>
          <a:prstGeom prst="rect">
            <a:avLst/>
          </a:prstGeom>
          <a:noFill/>
          <a:ln/>
        </p:spPr>
        <p:txBody>
          <a:bodyPr wrap="square" lIns="0" tIns="0" rIns="0" bIns="0" rtlCol="0" anchor="ctr"/>
          <a:lstStyle/>
          <a:p>
            <a:pPr indent="0" marL="0">
              <a:buNone/>
            </a:pPr>
            <a:r>
              <a:rPr lang="en-US" sz="1600" b="1" dirty="0">
                <a:solidFill>
                  <a:srgbClr val="0F1B2D"/>
                </a:solidFill>
              </a:rPr>
              <a:t>IA</a:t>
            </a:r>
            <a:endParaRPr lang="en-US" sz="1600" dirty="0"/>
          </a:p>
        </p:txBody>
      </p:sp>
      <p:sp>
        <p:nvSpPr>
          <p:cNvPr id="14" name="Text 11"/>
          <p:cNvSpPr txBox="1"/>
          <p:nvPr/>
        </p:nvSpPr>
        <p:spPr>
          <a:xfrm>
            <a:off x="9098280" y="2651760"/>
            <a:ext cx="2560320" cy="749808"/>
          </a:xfrm>
          <a:prstGeom prst="rect">
            <a:avLst/>
          </a:prstGeom>
          <a:noFill/>
          <a:ln/>
        </p:spPr>
        <p:txBody>
          <a:bodyPr wrap="square" lIns="0" tIns="0" rIns="0" bIns="0" rtlCol="0" anchor="ctr"/>
          <a:lstStyle/>
          <a:p>
            <a:pPr indent="0" marL="0">
              <a:buNone/>
            </a:pPr>
            <a:r>
              <a:rPr lang="en-US" sz="1300" dirty="0">
                <a:solidFill>
                  <a:srgbClr val="0F1B2D"/>
                </a:solidFill>
              </a:rPr>
              <a:t>Chronologie, sources, trous · secrétaire, jamais juge</a:t>
            </a:r>
            <a:endParaRPr lang="en-US" sz="1300" dirty="0"/>
          </a:p>
        </p:txBody>
      </p:sp>
      <p:sp>
        <p:nvSpPr>
          <p:cNvPr id="15" name="Shape 12"/>
          <p:cNvSpPr/>
          <p:nvPr/>
        </p:nvSpPr>
        <p:spPr>
          <a:xfrm>
            <a:off x="7772400" y="3520440"/>
            <a:ext cx="3977640" cy="749808"/>
          </a:xfrm>
          <a:prstGeom prst="roundRect">
            <a:avLst>
              <a:gd name="adj" fmla="val 9756"/>
            </a:avLst>
          </a:prstGeom>
          <a:solidFill>
            <a:srgbClr val="F6F1EA"/>
          </a:solidFill>
          <a:ln w="12700">
            <a:solidFill>
              <a:srgbClr val="F6F1EA"/>
            </a:solidFill>
            <a:prstDash val="solid"/>
          </a:ln>
        </p:spPr>
      </p:sp>
      <p:sp>
        <p:nvSpPr>
          <p:cNvPr id="16" name="Text 13"/>
          <p:cNvSpPr txBox="1"/>
          <p:nvPr/>
        </p:nvSpPr>
        <p:spPr>
          <a:xfrm>
            <a:off x="7955280" y="3520440"/>
            <a:ext cx="1188720" cy="749808"/>
          </a:xfrm>
          <a:prstGeom prst="rect">
            <a:avLst/>
          </a:prstGeom>
          <a:noFill/>
          <a:ln/>
        </p:spPr>
        <p:txBody>
          <a:bodyPr wrap="square" lIns="0" tIns="0" rIns="0" bIns="0" rtlCol="0" anchor="ctr"/>
          <a:lstStyle/>
          <a:p>
            <a:pPr indent="0" marL="0">
              <a:buNone/>
            </a:pPr>
            <a:r>
              <a:rPr lang="en-US" sz="1600" b="1" dirty="0">
                <a:solidFill>
                  <a:srgbClr val="0F1B2D"/>
                </a:solidFill>
              </a:rPr>
              <a:t>HUMAIN</a:t>
            </a:r>
            <a:endParaRPr lang="en-US" sz="1600" dirty="0"/>
          </a:p>
        </p:txBody>
      </p:sp>
      <p:sp>
        <p:nvSpPr>
          <p:cNvPr id="17" name="Text 14"/>
          <p:cNvSpPr txBox="1"/>
          <p:nvPr/>
        </p:nvSpPr>
        <p:spPr>
          <a:xfrm>
            <a:off x="9098280" y="3520440"/>
            <a:ext cx="2560320" cy="749808"/>
          </a:xfrm>
          <a:prstGeom prst="rect">
            <a:avLst/>
          </a:prstGeom>
          <a:noFill/>
          <a:ln/>
        </p:spPr>
        <p:txBody>
          <a:bodyPr wrap="square" lIns="0" tIns="0" rIns="0" bIns="0" rtlCol="0" anchor="ctr"/>
          <a:lstStyle/>
          <a:p>
            <a:pPr indent="0" marL="0">
              <a:buNone/>
            </a:pPr>
            <a:r>
              <a:rPr lang="en-US" sz="1300" dirty="0">
                <a:solidFill>
                  <a:srgbClr val="0F1B2D"/>
                </a:solidFill>
              </a:rPr>
              <a:t>Valide chaque ligne · la victime consent</a:t>
            </a:r>
            <a:endParaRPr lang="en-US" sz="1300" dirty="0"/>
          </a:p>
        </p:txBody>
      </p:sp>
      <p:sp>
        <p:nvSpPr>
          <p:cNvPr id="18" name="Text 15"/>
          <p:cNvSpPr txBox="1"/>
          <p:nvPr/>
        </p:nvSpPr>
        <p:spPr>
          <a:xfrm>
            <a:off x="7772400" y="4434840"/>
            <a:ext cx="3977640" cy="13716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rgbClr val="F6F1EA"/>
                </a:solidFill>
              </a:rPr>
              <a:t>Pseudonymisation visible : Léa → [PATIENTE]</a:t>
            </a:r>
            <a:endParaRPr lang="en-US" sz="1400" dirty="0"/>
          </a:p>
          <a:p>
            <a:pPr marL="342900" indent="-342900">
              <a:spcAft>
                <a:spcPts val="400"/>
              </a:spcAft>
              <a:buSzPct val="100000"/>
              <a:buChar char="•"/>
            </a:pPr>
            <a:r>
              <a:rPr lang="en-US" sz="1400" dirty="0">
                <a:solidFill>
                  <a:srgbClr val="F6F1EA"/>
                </a:solidFill>
              </a:rPr>
              <a:t>Consentement par étape, révocable</a:t>
            </a:r>
            <a:endParaRPr lang="en-US" sz="1400" dirty="0"/>
          </a:p>
          <a:p>
            <a:pPr marL="342900" indent="-342900">
              <a:spcAft>
                <a:spcPts val="400"/>
              </a:spcAft>
              <a:buSzPct val="100000"/>
              <a:buChar char="•"/>
            </a:pPr>
            <a:r>
              <a:rPr lang="en-US" sz="1400" dirty="0">
                <a:solidFill>
                  <a:srgbClr val="F6F1EA"/>
                </a:solidFill>
              </a:rPr>
              <a:t>Rien vers la police sans son accord</a:t>
            </a:r>
            <a:endParaRPr lang="en-US" sz="1400" dirty="0"/>
          </a:p>
          <a:p>
            <a:pPr marL="342900" indent="-342900">
              <a:spcAft>
                <a:spcPts val="400"/>
              </a:spcAft>
              <a:buSzPct val="100000"/>
              <a:buChar char="•"/>
            </a:pPr>
            <a:r>
              <a:rPr lang="en-US" sz="1400" dirty="0">
                <a:solidFill>
                  <a:srgbClr val="F6F1EA"/>
                </a:solidFill>
              </a:rPr>
              <a:t>Journal SHA-256 : retouche détectée</a:t>
            </a:r>
            <a:endParaRPr lang="en-US" sz="1400" dirty="0"/>
          </a:p>
        </p:txBody>
      </p:sp>
      <p:sp>
        <p:nvSpPr>
          <p:cNvPr id="19" name="Text 16"/>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200" dirty="0">
                <a:solidFill>
                  <a:srgbClr val="A9B1BD"/>
                </a:solidFill>
              </a:rPr>
              <a:t>En production : hébergement au Canada, chiffrement, EFVP (Loi 25), aucun entraînement sur les données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457200" y="365760"/>
            <a:ext cx="384048" cy="384048"/>
          </a:xfrm>
          <a:prstGeom prst="ellipse">
            <a:avLst/>
          </a:prstGeom>
          <a:ln w="25400">
            <a:solidFill>
              <a:srgbClr val="E8A33D"/>
            </a:solidFill>
            <a:prstDash val="solid"/>
          </a:ln>
        </p:spPr>
      </p:sp>
      <p:sp>
        <p:nvSpPr>
          <p:cNvPr id="3" name="Shape 1"/>
          <p:cNvSpPr/>
          <p:nvPr/>
        </p:nvSpPr>
        <p:spPr>
          <a:xfrm>
            <a:off x="580644" y="393192"/>
            <a:ext cx="137160" cy="329184"/>
          </a:xfrm>
          <a:prstGeom prst="diamond">
            <a:avLst/>
          </a:prstGeom>
          <a:solidFill>
            <a:srgbClr val="E8A33D"/>
          </a:solidFill>
          <a:ln w="12700">
            <a:solidFill>
              <a:srgbClr val="E8A33D"/>
            </a:solidFill>
            <a:prstDash val="solid"/>
          </a:ln>
        </p:spPr>
      </p:sp>
      <p:sp>
        <p:nvSpPr>
          <p:cNvPr id="4" name="Text 2"/>
          <p:cNvSpPr txBox="1"/>
          <p:nvPr/>
        </p:nvSpPr>
        <p:spPr>
          <a:xfrm>
            <a:off x="914400" y="347472"/>
            <a:ext cx="2743200" cy="420624"/>
          </a:xfrm>
          <a:prstGeom prst="rect">
            <a:avLst/>
          </a:prstGeom>
          <a:noFill/>
          <a:ln/>
        </p:spPr>
        <p:txBody>
          <a:bodyPr wrap="square" lIns="0" tIns="0" rIns="0" bIns="0" rtlCol="0" anchor="ctr"/>
          <a:lstStyle/>
          <a:p>
            <a:pPr indent="0" marL="0">
              <a:buNone/>
            </a:pPr>
            <a:r>
              <a:rPr lang="en-US" sz="2200" b="1" dirty="0">
                <a:solidFill>
                  <a:srgbClr val="F6F1EA"/>
                </a:solidFill>
              </a:rPr>
              <a:t>Boussole</a:t>
            </a:r>
            <a:endParaRPr lang="en-US" sz="2200" dirty="0"/>
          </a:p>
        </p:txBody>
      </p:sp>
      <p:sp>
        <p:nvSpPr>
          <p:cNvPr id="5" name="Text 3"/>
          <p:cNvSpPr txBox="1"/>
          <p:nvPr/>
        </p:nvSpPr>
        <p:spPr>
          <a:xfrm>
            <a:off x="8961120" y="6419088"/>
            <a:ext cx="2834640" cy="274320"/>
          </a:xfrm>
          <a:prstGeom prst="rect">
            <a:avLst/>
          </a:prstGeom>
          <a:noFill/>
          <a:ln/>
        </p:spPr>
        <p:txBody>
          <a:bodyPr wrap="square" lIns="0" tIns="0" rIns="0" bIns="0" rtlCol="0" anchor="ctr"/>
          <a:lstStyle/>
          <a:p>
            <a:pPr algn="r" indent="0" marL="0">
              <a:buNone/>
            </a:pPr>
            <a:r>
              <a:rPr lang="en-US" sz="1000" b="1" dirty="0">
                <a:solidFill>
                  <a:srgbClr val="C8553D"/>
                </a:solidFill>
              </a:rPr>
              <a:t>DONNÉES FICTIVES · PROTOTYPE</a:t>
            </a:r>
            <a:endParaRPr lang="en-US" sz="1000" dirty="0"/>
          </a:p>
        </p:txBody>
      </p:sp>
      <p:sp>
        <p:nvSpPr>
          <p:cNvPr id="6" name="Text 4"/>
          <p:cNvSpPr txBox="1"/>
          <p:nvPr/>
        </p:nvSpPr>
        <p:spPr>
          <a:xfrm>
            <a:off x="457200" y="914400"/>
            <a:ext cx="11247120" cy="640080"/>
          </a:xfrm>
          <a:prstGeom prst="rect">
            <a:avLst/>
          </a:prstGeom>
          <a:noFill/>
          <a:ln/>
        </p:spPr>
        <p:txBody>
          <a:bodyPr wrap="square" lIns="0" tIns="0" rIns="0" bIns="0" rtlCol="0" anchor="ctr"/>
          <a:lstStyle/>
          <a:p>
            <a:pPr indent="0" marL="0">
              <a:buNone/>
            </a:pPr>
            <a:r>
              <a:rPr lang="en-US" sz="3600" b="1" dirty="0">
                <a:solidFill>
                  <a:srgbClr val="F6F1EA"/>
                </a:solidFill>
              </a:rPr>
              <a:t>La première nuit, sans perdre la preuve</a:t>
            </a:r>
            <a:endParaRPr lang="en-US" sz="3600" dirty="0"/>
          </a:p>
        </p:txBody>
      </p:sp>
      <p:pic>
        <p:nvPicPr>
          <p:cNvPr id="7" name="Image 0" descr="/home/user/hackathon-codeML-SAA/docs/assets/screens/04-checklist.png">    </p:cNvPr>
          <p:cNvPicPr>
            <a:picLocks noChangeAspect="1"/>
          </p:cNvPicPr>
          <p:nvPr/>
        </p:nvPicPr>
        <p:blipFill>
          <a:blip r:embed="rId1"/>
          <a:stretch>
            <a:fillRect/>
          </a:stretch>
        </p:blipFill>
        <p:spPr>
          <a:xfrm>
            <a:off x="457200" y="2103120"/>
            <a:ext cx="2240280" cy="1261872"/>
          </a:xfrm>
          <a:prstGeom prst="rect">
            <a:avLst/>
          </a:prstGeom>
        </p:spPr>
      </p:pic>
      <p:sp>
        <p:nvSpPr>
          <p:cNvPr id="8" name="Text 5"/>
          <p:cNvSpPr txBox="1"/>
          <p:nvPr/>
        </p:nvSpPr>
        <p:spPr>
          <a:xfrm>
            <a:off x="457200" y="3429000"/>
            <a:ext cx="2240280" cy="640080"/>
          </a:xfrm>
          <a:prstGeom prst="rect">
            <a:avLst/>
          </a:prstGeom>
          <a:noFill/>
          <a:ln/>
        </p:spPr>
        <p:txBody>
          <a:bodyPr wrap="square" lIns="0" tIns="0" rIns="0" bIns="0" rtlCol="0" anchor="t"/>
          <a:lstStyle/>
          <a:p>
            <a:pPr indent="0" marL="0">
              <a:buNone/>
            </a:pPr>
            <a:r>
              <a:rPr lang="en-US" sz="1300" dirty="0">
                <a:solidFill>
                  <a:srgbClr val="F6F1EA"/>
                </a:solidFill>
              </a:rPr>
              <a:t>Règles : les délais, sans IA</a:t>
            </a:r>
            <a:endParaRPr lang="en-US" sz="1300" dirty="0"/>
          </a:p>
        </p:txBody>
      </p:sp>
      <p:pic>
        <p:nvPicPr>
          <p:cNvPr id="9" name="Image 1" descr="/home/user/hackathon-codeML-SAA/docs/assets/screens/07-validation.png">    </p:cNvPr>
          <p:cNvPicPr>
            <a:picLocks noChangeAspect="1"/>
          </p:cNvPicPr>
          <p:nvPr/>
        </p:nvPicPr>
        <p:blipFill>
          <a:blip r:embed="rId2"/>
          <a:stretch>
            <a:fillRect/>
          </a:stretch>
        </p:blipFill>
        <p:spPr>
          <a:xfrm>
            <a:off x="2834640" y="2103120"/>
            <a:ext cx="2240280" cy="1261872"/>
          </a:xfrm>
          <a:prstGeom prst="rect">
            <a:avLst/>
          </a:prstGeom>
        </p:spPr>
      </p:pic>
      <p:sp>
        <p:nvSpPr>
          <p:cNvPr id="10" name="Text 6"/>
          <p:cNvSpPr txBox="1"/>
          <p:nvPr/>
        </p:nvSpPr>
        <p:spPr>
          <a:xfrm>
            <a:off x="2834640" y="3429000"/>
            <a:ext cx="2240280" cy="640080"/>
          </a:xfrm>
          <a:prstGeom prst="rect">
            <a:avLst/>
          </a:prstGeom>
          <a:noFill/>
          <a:ln/>
        </p:spPr>
        <p:txBody>
          <a:bodyPr wrap="square" lIns="0" tIns="0" rIns="0" bIns="0" rtlCol="0" anchor="t"/>
          <a:lstStyle/>
          <a:p>
            <a:pPr indent="0" marL="0">
              <a:buNone/>
            </a:pPr>
            <a:r>
              <a:rPr lang="en-US" sz="1300" dirty="0">
                <a:solidFill>
                  <a:srgbClr val="F6F1EA"/>
                </a:solidFill>
              </a:rPr>
              <a:t>IA : cite ses sources, ne juge pas</a:t>
            </a:r>
            <a:endParaRPr lang="en-US" sz="1300" dirty="0"/>
          </a:p>
        </p:txBody>
      </p:sp>
      <p:pic>
        <p:nvPicPr>
          <p:cNvPr id="11" name="Image 2" descr="/home/user/hackathon-codeML-SAA/docs/assets/screens/09-alteration.png">    </p:cNvPr>
          <p:cNvPicPr>
            <a:picLocks noChangeAspect="1"/>
          </p:cNvPicPr>
          <p:nvPr/>
        </p:nvPicPr>
        <p:blipFill>
          <a:blip r:embed="rId3"/>
          <a:stretch>
            <a:fillRect/>
          </a:stretch>
        </p:blipFill>
        <p:spPr>
          <a:xfrm>
            <a:off x="5212080" y="2103120"/>
            <a:ext cx="2240280" cy="1261872"/>
          </a:xfrm>
          <a:prstGeom prst="rect">
            <a:avLst/>
          </a:prstGeom>
        </p:spPr>
      </p:pic>
      <p:sp>
        <p:nvSpPr>
          <p:cNvPr id="12" name="Text 7"/>
          <p:cNvSpPr txBox="1"/>
          <p:nvPr/>
        </p:nvSpPr>
        <p:spPr>
          <a:xfrm>
            <a:off x="5212080" y="3429000"/>
            <a:ext cx="2240280" cy="640080"/>
          </a:xfrm>
          <a:prstGeom prst="rect">
            <a:avLst/>
          </a:prstGeom>
          <a:noFill/>
          <a:ln/>
        </p:spPr>
        <p:txBody>
          <a:bodyPr wrap="square" lIns="0" tIns="0" rIns="0" bIns="0" rtlCol="0" anchor="t"/>
          <a:lstStyle/>
          <a:p>
            <a:pPr indent="0" marL="0">
              <a:buNone/>
            </a:pPr>
            <a:r>
              <a:rPr lang="en-US" sz="1300" dirty="0">
                <a:solidFill>
                  <a:srgbClr val="F6F1EA"/>
                </a:solidFill>
              </a:rPr>
              <a:t>Humain : valide ; journal prouvé</a:t>
            </a:r>
            <a:endParaRPr lang="en-US" sz="1300" dirty="0"/>
          </a:p>
        </p:txBody>
      </p:sp>
      <p:sp>
        <p:nvSpPr>
          <p:cNvPr id="13" name="Shape 8"/>
          <p:cNvSpPr/>
          <p:nvPr/>
        </p:nvSpPr>
        <p:spPr>
          <a:xfrm>
            <a:off x="7772400" y="1783080"/>
            <a:ext cx="3977640" cy="749808"/>
          </a:xfrm>
          <a:prstGeom prst="roundRect">
            <a:avLst>
              <a:gd name="adj" fmla="val 9756"/>
            </a:avLst>
          </a:prstGeom>
          <a:solidFill>
            <a:srgbClr val="1B2B44"/>
          </a:solidFill>
          <a:ln w="12700">
            <a:solidFill>
              <a:srgbClr val="1B2B44"/>
            </a:solidFill>
            <a:prstDash val="solid"/>
          </a:ln>
        </p:spPr>
      </p:sp>
      <p:sp>
        <p:nvSpPr>
          <p:cNvPr id="14" name="Text 9"/>
          <p:cNvSpPr txBox="1"/>
          <p:nvPr/>
        </p:nvSpPr>
        <p:spPr>
          <a:xfrm>
            <a:off x="7955280" y="1783080"/>
            <a:ext cx="1188720" cy="749808"/>
          </a:xfrm>
          <a:prstGeom prst="rect">
            <a:avLst/>
          </a:prstGeom>
          <a:noFill/>
          <a:ln/>
        </p:spPr>
        <p:txBody>
          <a:bodyPr wrap="square" lIns="0" tIns="0" rIns="0" bIns="0" rtlCol="0" anchor="ctr"/>
          <a:lstStyle/>
          <a:p>
            <a:pPr indent="0" marL="0">
              <a:buNone/>
            </a:pPr>
            <a:r>
              <a:rPr lang="en-US" sz="1600" b="1" dirty="0">
                <a:solidFill>
                  <a:srgbClr val="F6F1EA"/>
                </a:solidFill>
              </a:rPr>
              <a:t>RÈGLES</a:t>
            </a:r>
            <a:endParaRPr lang="en-US" sz="1600" dirty="0"/>
          </a:p>
        </p:txBody>
      </p:sp>
      <p:sp>
        <p:nvSpPr>
          <p:cNvPr id="15" name="Text 10"/>
          <p:cNvSpPr txBox="1"/>
          <p:nvPr/>
        </p:nvSpPr>
        <p:spPr>
          <a:xfrm>
            <a:off x="9098280" y="1783080"/>
            <a:ext cx="2560320" cy="749808"/>
          </a:xfrm>
          <a:prstGeom prst="rect">
            <a:avLst/>
          </a:prstGeom>
          <a:noFill/>
          <a:ln/>
        </p:spPr>
        <p:txBody>
          <a:bodyPr wrap="square" lIns="0" tIns="0" rIns="0" bIns="0" rtlCol="0" anchor="ctr"/>
          <a:lstStyle/>
          <a:p>
            <a:pPr indent="0" marL="0">
              <a:buNone/>
            </a:pPr>
            <a:r>
              <a:rPr lang="en-US" sz="1300" dirty="0">
                <a:solidFill>
                  <a:srgbClr val="F6F1EA"/>
                </a:solidFill>
              </a:rPr>
              <a:t>Délais et priorités · pas d'IA</a:t>
            </a:r>
            <a:endParaRPr lang="en-US" sz="1300" dirty="0"/>
          </a:p>
        </p:txBody>
      </p:sp>
      <p:sp>
        <p:nvSpPr>
          <p:cNvPr id="16" name="Shape 11"/>
          <p:cNvSpPr/>
          <p:nvPr/>
        </p:nvSpPr>
        <p:spPr>
          <a:xfrm>
            <a:off x="7772400" y="2651760"/>
            <a:ext cx="3977640" cy="749808"/>
          </a:xfrm>
          <a:prstGeom prst="roundRect">
            <a:avLst>
              <a:gd name="adj" fmla="val 9756"/>
            </a:avLst>
          </a:prstGeom>
          <a:solidFill>
            <a:srgbClr val="E8A33D"/>
          </a:solidFill>
          <a:ln w="12700">
            <a:solidFill>
              <a:srgbClr val="E8A33D"/>
            </a:solidFill>
            <a:prstDash val="solid"/>
          </a:ln>
        </p:spPr>
      </p:sp>
      <p:sp>
        <p:nvSpPr>
          <p:cNvPr id="17" name="Text 12"/>
          <p:cNvSpPr txBox="1"/>
          <p:nvPr/>
        </p:nvSpPr>
        <p:spPr>
          <a:xfrm>
            <a:off x="7955280" y="2651760"/>
            <a:ext cx="1188720" cy="749808"/>
          </a:xfrm>
          <a:prstGeom prst="rect">
            <a:avLst/>
          </a:prstGeom>
          <a:noFill/>
          <a:ln/>
        </p:spPr>
        <p:txBody>
          <a:bodyPr wrap="square" lIns="0" tIns="0" rIns="0" bIns="0" rtlCol="0" anchor="ctr"/>
          <a:lstStyle/>
          <a:p>
            <a:pPr indent="0" marL="0">
              <a:buNone/>
            </a:pPr>
            <a:r>
              <a:rPr lang="en-US" sz="1600" b="1" dirty="0">
                <a:solidFill>
                  <a:srgbClr val="0F1B2D"/>
                </a:solidFill>
              </a:rPr>
              <a:t>IA</a:t>
            </a:r>
            <a:endParaRPr lang="en-US" sz="1600" dirty="0"/>
          </a:p>
        </p:txBody>
      </p:sp>
      <p:sp>
        <p:nvSpPr>
          <p:cNvPr id="18" name="Text 13"/>
          <p:cNvSpPr txBox="1"/>
          <p:nvPr/>
        </p:nvSpPr>
        <p:spPr>
          <a:xfrm>
            <a:off x="9098280" y="2651760"/>
            <a:ext cx="2560320" cy="749808"/>
          </a:xfrm>
          <a:prstGeom prst="rect">
            <a:avLst/>
          </a:prstGeom>
          <a:noFill/>
          <a:ln/>
        </p:spPr>
        <p:txBody>
          <a:bodyPr wrap="square" lIns="0" tIns="0" rIns="0" bIns="0" rtlCol="0" anchor="ctr"/>
          <a:lstStyle/>
          <a:p>
            <a:pPr indent="0" marL="0">
              <a:buNone/>
            </a:pPr>
            <a:r>
              <a:rPr lang="en-US" sz="1300" dirty="0">
                <a:solidFill>
                  <a:srgbClr val="0F1B2D"/>
                </a:solidFill>
              </a:rPr>
              <a:t>Chronologie, sources, trous · secrétaire, jamais juge</a:t>
            </a:r>
            <a:endParaRPr lang="en-US" sz="1300" dirty="0"/>
          </a:p>
        </p:txBody>
      </p:sp>
      <p:sp>
        <p:nvSpPr>
          <p:cNvPr id="19" name="Shape 14"/>
          <p:cNvSpPr/>
          <p:nvPr/>
        </p:nvSpPr>
        <p:spPr>
          <a:xfrm>
            <a:off x="7772400" y="3520440"/>
            <a:ext cx="3977640" cy="749808"/>
          </a:xfrm>
          <a:prstGeom prst="roundRect">
            <a:avLst>
              <a:gd name="adj" fmla="val 9756"/>
            </a:avLst>
          </a:prstGeom>
          <a:solidFill>
            <a:srgbClr val="F6F1EA"/>
          </a:solidFill>
          <a:ln w="12700">
            <a:solidFill>
              <a:srgbClr val="F6F1EA"/>
            </a:solidFill>
            <a:prstDash val="solid"/>
          </a:ln>
        </p:spPr>
      </p:sp>
      <p:sp>
        <p:nvSpPr>
          <p:cNvPr id="20" name="Text 15"/>
          <p:cNvSpPr txBox="1"/>
          <p:nvPr/>
        </p:nvSpPr>
        <p:spPr>
          <a:xfrm>
            <a:off x="7955280" y="3520440"/>
            <a:ext cx="1188720" cy="749808"/>
          </a:xfrm>
          <a:prstGeom prst="rect">
            <a:avLst/>
          </a:prstGeom>
          <a:noFill/>
          <a:ln/>
        </p:spPr>
        <p:txBody>
          <a:bodyPr wrap="square" lIns="0" tIns="0" rIns="0" bIns="0" rtlCol="0" anchor="ctr"/>
          <a:lstStyle/>
          <a:p>
            <a:pPr indent="0" marL="0">
              <a:buNone/>
            </a:pPr>
            <a:r>
              <a:rPr lang="en-US" sz="1600" b="1" dirty="0">
                <a:solidFill>
                  <a:srgbClr val="0F1B2D"/>
                </a:solidFill>
              </a:rPr>
              <a:t>HUMAIN</a:t>
            </a:r>
            <a:endParaRPr lang="en-US" sz="1600" dirty="0"/>
          </a:p>
        </p:txBody>
      </p:sp>
      <p:sp>
        <p:nvSpPr>
          <p:cNvPr id="21" name="Text 16"/>
          <p:cNvSpPr txBox="1"/>
          <p:nvPr/>
        </p:nvSpPr>
        <p:spPr>
          <a:xfrm>
            <a:off x="9098280" y="3520440"/>
            <a:ext cx="2560320" cy="749808"/>
          </a:xfrm>
          <a:prstGeom prst="rect">
            <a:avLst/>
          </a:prstGeom>
          <a:noFill/>
          <a:ln/>
        </p:spPr>
        <p:txBody>
          <a:bodyPr wrap="square" lIns="0" tIns="0" rIns="0" bIns="0" rtlCol="0" anchor="ctr"/>
          <a:lstStyle/>
          <a:p>
            <a:pPr indent="0" marL="0">
              <a:buNone/>
            </a:pPr>
            <a:r>
              <a:rPr lang="en-US" sz="1300" dirty="0">
                <a:solidFill>
                  <a:srgbClr val="0F1B2D"/>
                </a:solidFill>
              </a:rPr>
              <a:t>Valide chaque ligne · la victime consent</a:t>
            </a:r>
            <a:endParaRPr lang="en-US" sz="1300" dirty="0"/>
          </a:p>
        </p:txBody>
      </p:sp>
      <p:sp>
        <p:nvSpPr>
          <p:cNvPr id="22" name="Text 17"/>
          <p:cNvSpPr txBox="1"/>
          <p:nvPr/>
        </p:nvSpPr>
        <p:spPr>
          <a:xfrm>
            <a:off x="7772400" y="4434840"/>
            <a:ext cx="3977640" cy="13716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rgbClr val="F6F1EA"/>
                </a:solidFill>
              </a:rPr>
              <a:t>Pseudonymisation visible : Léa → [PATIENTE]</a:t>
            </a:r>
            <a:endParaRPr lang="en-US" sz="1400" dirty="0"/>
          </a:p>
          <a:p>
            <a:pPr marL="342900" indent="-342900">
              <a:spcAft>
                <a:spcPts val="400"/>
              </a:spcAft>
              <a:buSzPct val="100000"/>
              <a:buChar char="•"/>
            </a:pPr>
            <a:r>
              <a:rPr lang="en-US" sz="1400" dirty="0">
                <a:solidFill>
                  <a:srgbClr val="F6F1EA"/>
                </a:solidFill>
              </a:rPr>
              <a:t>Consentement par étape, révocable</a:t>
            </a:r>
            <a:endParaRPr lang="en-US" sz="1400" dirty="0"/>
          </a:p>
          <a:p>
            <a:pPr marL="342900" indent="-342900">
              <a:spcAft>
                <a:spcPts val="400"/>
              </a:spcAft>
              <a:buSzPct val="100000"/>
              <a:buChar char="•"/>
            </a:pPr>
            <a:r>
              <a:rPr lang="en-US" sz="1400" dirty="0">
                <a:solidFill>
                  <a:srgbClr val="F6F1EA"/>
                </a:solidFill>
              </a:rPr>
              <a:t>Rien vers la police sans son accord</a:t>
            </a:r>
            <a:endParaRPr lang="en-US" sz="1400" dirty="0"/>
          </a:p>
          <a:p>
            <a:pPr marL="342900" indent="-342900">
              <a:spcAft>
                <a:spcPts val="400"/>
              </a:spcAft>
              <a:buSzPct val="100000"/>
              <a:buChar char="•"/>
            </a:pPr>
            <a:r>
              <a:rPr lang="en-US" sz="1400" dirty="0">
                <a:solidFill>
                  <a:srgbClr val="F6F1EA"/>
                </a:solidFill>
              </a:rPr>
              <a:t>Journal SHA-256 : retouche détectée</a:t>
            </a:r>
            <a:endParaRPr lang="en-US" sz="1400" dirty="0"/>
          </a:p>
        </p:txBody>
      </p:sp>
      <p:sp>
        <p:nvSpPr>
          <p:cNvPr id="23" name="Text 18"/>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200" dirty="0">
                <a:solidFill>
                  <a:srgbClr val="A9B1BD"/>
                </a:solidFill>
              </a:rPr>
              <a:t>En production : hébergement au Canada, chiffrement, EFVP (Loi 25), aucun entraînement sur les données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457200" y="365760"/>
            <a:ext cx="384048" cy="384048"/>
          </a:xfrm>
          <a:prstGeom prst="ellipse">
            <a:avLst/>
          </a:prstGeom>
          <a:ln w="25400">
            <a:solidFill>
              <a:srgbClr val="E8A33D"/>
            </a:solidFill>
            <a:prstDash val="solid"/>
          </a:ln>
        </p:spPr>
      </p:sp>
      <p:sp>
        <p:nvSpPr>
          <p:cNvPr id="3" name="Shape 1"/>
          <p:cNvSpPr/>
          <p:nvPr/>
        </p:nvSpPr>
        <p:spPr>
          <a:xfrm>
            <a:off x="580644" y="393192"/>
            <a:ext cx="137160" cy="329184"/>
          </a:xfrm>
          <a:prstGeom prst="diamond">
            <a:avLst/>
          </a:prstGeom>
          <a:solidFill>
            <a:srgbClr val="E8A33D"/>
          </a:solidFill>
          <a:ln w="12700">
            <a:solidFill>
              <a:srgbClr val="E8A33D"/>
            </a:solidFill>
            <a:prstDash val="solid"/>
          </a:ln>
        </p:spPr>
      </p:sp>
      <p:sp>
        <p:nvSpPr>
          <p:cNvPr id="4" name="Text 2"/>
          <p:cNvSpPr txBox="1"/>
          <p:nvPr/>
        </p:nvSpPr>
        <p:spPr>
          <a:xfrm>
            <a:off x="914400" y="347472"/>
            <a:ext cx="2743200" cy="420624"/>
          </a:xfrm>
          <a:prstGeom prst="rect">
            <a:avLst/>
          </a:prstGeom>
          <a:noFill/>
          <a:ln/>
        </p:spPr>
        <p:txBody>
          <a:bodyPr wrap="square" lIns="0" tIns="0" rIns="0" bIns="0" rtlCol="0" anchor="ctr"/>
          <a:lstStyle/>
          <a:p>
            <a:pPr indent="0" marL="0">
              <a:buNone/>
            </a:pPr>
            <a:r>
              <a:rPr lang="en-US" sz="2200" b="1" dirty="0">
                <a:solidFill>
                  <a:srgbClr val="F6F1EA"/>
                </a:solidFill>
              </a:rPr>
              <a:t>Boussole</a:t>
            </a:r>
            <a:endParaRPr lang="en-US" sz="2200" dirty="0"/>
          </a:p>
        </p:txBody>
      </p:sp>
      <p:sp>
        <p:nvSpPr>
          <p:cNvPr id="5" name="Text 3"/>
          <p:cNvSpPr txBox="1"/>
          <p:nvPr/>
        </p:nvSpPr>
        <p:spPr>
          <a:xfrm>
            <a:off x="457200" y="914400"/>
            <a:ext cx="11247120" cy="640080"/>
          </a:xfrm>
          <a:prstGeom prst="rect">
            <a:avLst/>
          </a:prstGeom>
          <a:noFill/>
          <a:ln/>
        </p:spPr>
        <p:txBody>
          <a:bodyPr wrap="square" lIns="0" tIns="0" rIns="0" bIns="0" rtlCol="0" anchor="ctr"/>
          <a:lstStyle/>
          <a:p>
            <a:pPr indent="0" marL="0">
              <a:buNone/>
            </a:pPr>
            <a:r>
              <a:rPr lang="en-US" sz="3600" b="1" dirty="0">
                <a:solidFill>
                  <a:srgbClr val="F6F1EA"/>
                </a:solidFill>
              </a:rPr>
              <a:t>On vend au soin. Pas à la police.</a:t>
            </a:r>
            <a:endParaRPr lang="en-US" sz="3600" dirty="0"/>
          </a:p>
        </p:txBody>
      </p:sp>
      <p:sp>
        <p:nvSpPr>
          <p:cNvPr id="6" name="Shape 4"/>
          <p:cNvSpPr/>
          <p:nvPr/>
        </p:nvSpPr>
        <p:spPr>
          <a:xfrm>
            <a:off x="457200" y="1783080"/>
            <a:ext cx="2514600" cy="1874520"/>
          </a:xfrm>
          <a:prstGeom prst="roundRect">
            <a:avLst>
              <a:gd name="adj" fmla="val 4878"/>
            </a:avLst>
          </a:prstGeom>
          <a:solidFill>
            <a:srgbClr val="F6F1EA"/>
          </a:solidFill>
          <a:ln w="12700">
            <a:solidFill>
              <a:srgbClr val="F6F1EA"/>
            </a:solidFill>
            <a:prstDash val="solid"/>
          </a:ln>
        </p:spPr>
      </p:sp>
      <p:sp>
        <p:nvSpPr>
          <p:cNvPr id="7" name="Text 5"/>
          <p:cNvSpPr txBox="1"/>
          <p:nvPr/>
        </p:nvSpPr>
        <p:spPr>
          <a:xfrm>
            <a:off x="640080" y="1920240"/>
            <a:ext cx="2148840" cy="320040"/>
          </a:xfrm>
          <a:prstGeom prst="rect">
            <a:avLst/>
          </a:prstGeom>
          <a:noFill/>
          <a:ln/>
        </p:spPr>
        <p:txBody>
          <a:bodyPr wrap="square" lIns="0" tIns="0" rIns="0" bIns="0" rtlCol="0" anchor="ctr"/>
          <a:lstStyle/>
          <a:p>
            <a:pPr indent="0" marL="0">
              <a:buNone/>
            </a:pPr>
            <a:r>
              <a:rPr lang="en-US" sz="1400" b="1" dirty="0">
                <a:solidFill>
                  <a:srgbClr val="E8A33D"/>
                </a:solidFill>
              </a:rPr>
              <a:t>PAIE</a:t>
            </a:r>
            <a:endParaRPr lang="en-US" sz="1400" dirty="0"/>
          </a:p>
        </p:txBody>
      </p:sp>
      <p:sp>
        <p:nvSpPr>
          <p:cNvPr id="8" name="Text 6"/>
          <p:cNvSpPr txBox="1"/>
          <p:nvPr/>
        </p:nvSpPr>
        <p:spPr>
          <a:xfrm>
            <a:off x="640080" y="2286000"/>
            <a:ext cx="2148840" cy="822960"/>
          </a:xfrm>
          <a:prstGeom prst="rect">
            <a:avLst/>
          </a:prstGeom>
          <a:noFill/>
          <a:ln/>
        </p:spPr>
        <p:txBody>
          <a:bodyPr wrap="square" lIns="0" tIns="0" rIns="0" bIns="0" rtlCol="0" anchor="t"/>
          <a:lstStyle/>
          <a:p>
            <a:pPr indent="0" marL="0">
              <a:buNone/>
            </a:pPr>
            <a:r>
              <a:rPr lang="en-US" sz="1500" b="1" dirty="0">
                <a:solidFill>
                  <a:srgbClr val="0F1B2D"/>
                </a:solidFill>
              </a:rPr>
              <a:t>Établissements de santé (CISSS / CIUSSS) · centres désignés</a:t>
            </a:r>
            <a:endParaRPr lang="en-US" sz="1500" dirty="0"/>
          </a:p>
        </p:txBody>
      </p:sp>
      <p:sp>
        <p:nvSpPr>
          <p:cNvPr id="9" name="Text 7"/>
          <p:cNvSpPr txBox="1"/>
          <p:nvPr/>
        </p:nvSpPr>
        <p:spPr>
          <a:xfrm>
            <a:off x="640080" y="3154680"/>
            <a:ext cx="2148840" cy="411480"/>
          </a:xfrm>
          <a:prstGeom prst="rect">
            <a:avLst/>
          </a:prstGeom>
          <a:noFill/>
          <a:ln/>
        </p:spPr>
        <p:txBody>
          <a:bodyPr wrap="square" lIns="0" tIns="0" rIns="0" bIns="0" rtlCol="0" anchor="ctr"/>
          <a:lstStyle/>
          <a:p>
            <a:pPr indent="0" marL="0">
              <a:buNone/>
            </a:pPr>
            <a:r>
              <a:rPr lang="en-US" sz="1300" dirty="0">
                <a:solidFill>
                  <a:srgbClr val="0F1B2D"/>
                </a:solidFill>
              </a:rPr>
              <a:t>Licence SaaS / centre / an (hypothèse)</a:t>
            </a:r>
            <a:endParaRPr lang="en-US" sz="1300" dirty="0"/>
          </a:p>
        </p:txBody>
      </p:sp>
      <p:sp>
        <p:nvSpPr>
          <p:cNvPr id="10" name="Shape 8"/>
          <p:cNvSpPr/>
          <p:nvPr/>
        </p:nvSpPr>
        <p:spPr>
          <a:xfrm>
            <a:off x="3154680" y="1783080"/>
            <a:ext cx="2514600" cy="1874520"/>
          </a:xfrm>
          <a:prstGeom prst="roundRect">
            <a:avLst>
              <a:gd name="adj" fmla="val 4878"/>
            </a:avLst>
          </a:prstGeom>
          <a:solidFill>
            <a:srgbClr val="F6F1EA"/>
          </a:solidFill>
          <a:ln w="12700">
            <a:solidFill>
              <a:srgbClr val="F6F1EA"/>
            </a:solidFill>
            <a:prstDash val="solid"/>
          </a:ln>
        </p:spPr>
      </p:sp>
      <p:sp>
        <p:nvSpPr>
          <p:cNvPr id="11" name="Text 9"/>
          <p:cNvSpPr txBox="1"/>
          <p:nvPr/>
        </p:nvSpPr>
        <p:spPr>
          <a:xfrm>
            <a:off x="3337560" y="1920240"/>
            <a:ext cx="2148840" cy="320040"/>
          </a:xfrm>
          <a:prstGeom prst="rect">
            <a:avLst/>
          </a:prstGeom>
          <a:noFill/>
          <a:ln/>
        </p:spPr>
        <p:txBody>
          <a:bodyPr wrap="square" lIns="0" tIns="0" rIns="0" bIns="0" rtlCol="0" anchor="ctr"/>
          <a:lstStyle/>
          <a:p>
            <a:pPr indent="0" marL="0">
              <a:buNone/>
            </a:pPr>
            <a:r>
              <a:rPr lang="en-US" sz="1400" b="1" dirty="0">
                <a:solidFill>
                  <a:srgbClr val="E8A33D"/>
                </a:solidFill>
              </a:rPr>
              <a:t>UTILISE</a:t>
            </a:r>
            <a:endParaRPr lang="en-US" sz="1400" dirty="0"/>
          </a:p>
        </p:txBody>
      </p:sp>
      <p:sp>
        <p:nvSpPr>
          <p:cNvPr id="12" name="Text 10"/>
          <p:cNvSpPr txBox="1"/>
          <p:nvPr/>
        </p:nvSpPr>
        <p:spPr>
          <a:xfrm>
            <a:off x="3337560" y="2286000"/>
            <a:ext cx="2148840" cy="822960"/>
          </a:xfrm>
          <a:prstGeom prst="rect">
            <a:avLst/>
          </a:prstGeom>
          <a:noFill/>
          <a:ln/>
        </p:spPr>
        <p:txBody>
          <a:bodyPr wrap="square" lIns="0" tIns="0" rIns="0" bIns="0" rtlCol="0" anchor="t"/>
          <a:lstStyle/>
          <a:p>
            <a:pPr indent="0" marL="0">
              <a:buNone/>
            </a:pPr>
            <a:r>
              <a:rPr lang="en-US" sz="1500" b="1" dirty="0">
                <a:solidFill>
                  <a:srgbClr val="0F1B2D"/>
                </a:solidFill>
              </a:rPr>
              <a:t>Infirmières, médecins, intervenantes</a:t>
            </a:r>
            <a:endParaRPr lang="en-US" sz="1500" dirty="0"/>
          </a:p>
        </p:txBody>
      </p:sp>
      <p:sp>
        <p:nvSpPr>
          <p:cNvPr id="13" name="Text 11"/>
          <p:cNvSpPr txBox="1"/>
          <p:nvPr/>
        </p:nvSpPr>
        <p:spPr>
          <a:xfrm>
            <a:off x="3337560" y="3154680"/>
            <a:ext cx="2148840" cy="411480"/>
          </a:xfrm>
          <a:prstGeom prst="rect">
            <a:avLst/>
          </a:prstGeom>
          <a:noFill/>
          <a:ln/>
        </p:spPr>
        <p:txBody>
          <a:bodyPr wrap="square" lIns="0" tIns="0" rIns="0" bIns="0" rtlCol="0" anchor="ctr"/>
          <a:lstStyle/>
          <a:p>
            <a:pPr indent="0" marL="0">
              <a:buNone/>
            </a:pPr>
            <a:r>
              <a:rPr lang="en-US" sz="1300" dirty="0">
                <a:solidFill>
                  <a:srgbClr val="0F1B2D"/>
                </a:solidFill>
              </a:rPr>
              <a:t>Moins de temps administratif</a:t>
            </a:r>
            <a:endParaRPr lang="en-US" sz="1300" dirty="0"/>
          </a:p>
        </p:txBody>
      </p:sp>
      <p:sp>
        <p:nvSpPr>
          <p:cNvPr id="14" name="Shape 12"/>
          <p:cNvSpPr/>
          <p:nvPr/>
        </p:nvSpPr>
        <p:spPr>
          <a:xfrm>
            <a:off x="5852160" y="1783080"/>
            <a:ext cx="2514600" cy="1874520"/>
          </a:xfrm>
          <a:prstGeom prst="roundRect">
            <a:avLst>
              <a:gd name="adj" fmla="val 4878"/>
            </a:avLst>
          </a:prstGeom>
          <a:solidFill>
            <a:srgbClr val="F6F1EA"/>
          </a:solidFill>
          <a:ln w="12700">
            <a:solidFill>
              <a:srgbClr val="F6F1EA"/>
            </a:solidFill>
            <a:prstDash val="solid"/>
          </a:ln>
        </p:spPr>
      </p:sp>
      <p:sp>
        <p:nvSpPr>
          <p:cNvPr id="15" name="Text 13"/>
          <p:cNvSpPr txBox="1"/>
          <p:nvPr/>
        </p:nvSpPr>
        <p:spPr>
          <a:xfrm>
            <a:off x="6035040" y="1920240"/>
            <a:ext cx="2148840" cy="320040"/>
          </a:xfrm>
          <a:prstGeom prst="rect">
            <a:avLst/>
          </a:prstGeom>
          <a:noFill/>
          <a:ln/>
        </p:spPr>
        <p:txBody>
          <a:bodyPr wrap="square" lIns="0" tIns="0" rIns="0" bIns="0" rtlCol="0" anchor="ctr"/>
          <a:lstStyle/>
          <a:p>
            <a:pPr indent="0" marL="0">
              <a:buNone/>
            </a:pPr>
            <a:r>
              <a:rPr lang="en-US" sz="1400" b="1" dirty="0">
                <a:solidFill>
                  <a:srgbClr val="E8A33D"/>
                </a:solidFill>
              </a:rPr>
              <a:t>BÉNÉFICIE</a:t>
            </a:r>
            <a:endParaRPr lang="en-US" sz="1400" dirty="0"/>
          </a:p>
        </p:txBody>
      </p:sp>
      <p:sp>
        <p:nvSpPr>
          <p:cNvPr id="16" name="Text 14"/>
          <p:cNvSpPr txBox="1"/>
          <p:nvPr/>
        </p:nvSpPr>
        <p:spPr>
          <a:xfrm>
            <a:off x="6035040" y="2286000"/>
            <a:ext cx="2148840" cy="822960"/>
          </a:xfrm>
          <a:prstGeom prst="rect">
            <a:avLst/>
          </a:prstGeom>
          <a:noFill/>
          <a:ln/>
        </p:spPr>
        <p:txBody>
          <a:bodyPr wrap="square" lIns="0" tIns="0" rIns="0" bIns="0" rtlCol="0" anchor="t"/>
          <a:lstStyle/>
          <a:p>
            <a:pPr indent="0" marL="0">
              <a:buNone/>
            </a:pPr>
            <a:r>
              <a:rPr lang="en-US" sz="1500" b="1" dirty="0">
                <a:solidFill>
                  <a:srgbClr val="0F1B2D"/>
                </a:solidFill>
              </a:rPr>
              <a:t>Victimes</a:t>
            </a:r>
            <a:endParaRPr lang="en-US" sz="1500" dirty="0"/>
          </a:p>
        </p:txBody>
      </p:sp>
      <p:sp>
        <p:nvSpPr>
          <p:cNvPr id="17" name="Text 15"/>
          <p:cNvSpPr txBox="1"/>
          <p:nvPr/>
        </p:nvSpPr>
        <p:spPr>
          <a:xfrm>
            <a:off x="6035040" y="3154680"/>
            <a:ext cx="2148840" cy="411480"/>
          </a:xfrm>
          <a:prstGeom prst="rect">
            <a:avLst/>
          </a:prstGeom>
          <a:noFill/>
          <a:ln/>
        </p:spPr>
        <p:txBody>
          <a:bodyPr wrap="square" lIns="0" tIns="0" rIns="0" bIns="0" rtlCol="0" anchor="ctr"/>
          <a:lstStyle/>
          <a:p>
            <a:pPr indent="0" marL="0">
              <a:buNone/>
            </a:pPr>
            <a:r>
              <a:rPr lang="en-US" sz="1300" dirty="0">
                <a:solidFill>
                  <a:srgbClr val="0F1B2D"/>
                </a:solidFill>
              </a:rPr>
              <a:t>Gratuit, toujours</a:t>
            </a:r>
            <a:endParaRPr lang="en-US" sz="1300" dirty="0"/>
          </a:p>
        </p:txBody>
      </p:sp>
      <p:sp>
        <p:nvSpPr>
          <p:cNvPr id="18" name="Text 16"/>
          <p:cNvSpPr txBox="1"/>
          <p:nvPr/>
        </p:nvSpPr>
        <p:spPr>
          <a:xfrm>
            <a:off x="457200" y="3794760"/>
            <a:ext cx="7863840" cy="365760"/>
          </a:xfrm>
          <a:prstGeom prst="rect">
            <a:avLst/>
          </a:prstGeom>
          <a:noFill/>
          <a:ln/>
        </p:spPr>
        <p:txBody>
          <a:bodyPr wrap="square" lIns="0" tIns="0" rIns="0" bIns="0" rtlCol="0" anchor="ctr"/>
          <a:lstStyle/>
          <a:p>
            <a:pPr indent="0" marL="0">
              <a:buNone/>
            </a:pPr>
            <a:r>
              <a:rPr lang="en-US" sz="1300" dirty="0">
                <a:solidFill>
                  <a:srgbClr val="A9B1BD"/>
                </a:solidFill>
              </a:rPr>
              <a:t>Police et DPCP reçoivent le dossier (avec accord), sans l'acheter · Partenaires : CAVAC, CALACS, LSJML</a:t>
            </a:r>
            <a:endParaRPr lang="en-US" sz="1300" dirty="0"/>
          </a:p>
        </p:txBody>
      </p:sp>
      <p:sp>
        <p:nvSpPr>
          <p:cNvPr id="19" name="Text 17"/>
          <p:cNvSpPr txBox="1"/>
          <p:nvPr/>
        </p:nvSpPr>
        <p:spPr>
          <a:xfrm>
            <a:off x="457200" y="4297680"/>
            <a:ext cx="7863840" cy="731520"/>
          </a:xfrm>
          <a:prstGeom prst="rect">
            <a:avLst/>
          </a:prstGeom>
          <a:noFill/>
          <a:ln/>
        </p:spPr>
        <p:txBody>
          <a:bodyPr wrap="square" lIns="0" tIns="0" rIns="0" bIns="0" rtlCol="0" anchor="ctr"/>
          <a:lstStyle/>
          <a:p>
            <a:pPr indent="0" marL="0">
              <a:buNone/>
            </a:pPr>
            <a:r>
              <a:rPr lang="en-US" sz="1800" dirty="0">
                <a:solidFill>
                  <a:srgbClr val="F6F1EA"/>
                </a:solidFill>
              </a:rPr>
              <a:t>Track-Kit (7 États US) suit la boîte.</a:t>
            </a:r>
            <a:endParaRPr lang="en-US" sz="1800" dirty="0"/>
          </a:p>
          <a:p>
            <a:pPr indent="0" marL="0">
              <a:buNone/>
            </a:pPr>
            <a:r>
              <a:rPr lang="en-US" sz="1800" b="1" dirty="0">
                <a:solidFill>
                  <a:srgbClr val="E8A33D"/>
                </a:solidFill>
              </a:rPr>
              <a:t>Boussole accompagne la personne.</a:t>
            </a:r>
            <a:endParaRPr lang="en-US" sz="1800" dirty="0"/>
          </a:p>
        </p:txBody>
      </p:sp>
      <p:sp>
        <p:nvSpPr>
          <p:cNvPr id="20" name="Text 18"/>
          <p:cNvSpPr txBox="1"/>
          <p:nvPr/>
        </p:nvSpPr>
        <p:spPr>
          <a:xfrm>
            <a:off x="457200" y="5120640"/>
            <a:ext cx="7863840" cy="868680"/>
          </a:xfrm>
          <a:prstGeom prst="rect">
            <a:avLst/>
          </a:prstGeom>
          <a:noFill/>
          <a:ln/>
        </p:spPr>
        <p:txBody>
          <a:bodyPr wrap="square" lIns="0" tIns="0" rIns="0" bIns="0" rtlCol="0" anchor="ctr"/>
          <a:lstStyle/>
          <a:p>
            <a:pPr indent="0" marL="0">
              <a:buNone/>
            </a:pPr>
            <a:r>
              <a:rPr lang="en-US" sz="2600" b="1" dirty="0">
                <a:solidFill>
                  <a:srgbClr val="E8A33D"/>
                </a:solidFill>
              </a:rPr>
              <a:t>On cherche 1 centre désigné</a:t>
            </a:r>
            <a:endParaRPr lang="en-US" sz="2600" dirty="0"/>
          </a:p>
          <a:p>
            <a:pPr indent="0" marL="0">
              <a:buNone/>
            </a:pPr>
            <a:r>
              <a:rPr lang="en-US" sz="2600" b="1" dirty="0">
                <a:solidFill>
                  <a:srgbClr val="E8A33D"/>
                </a:solidFill>
              </a:rPr>
              <a:t>pour un pilote de 3 mois</a:t>
            </a:r>
            <a:endParaRPr lang="en-US" sz="2600" dirty="0"/>
          </a:p>
        </p:txBody>
      </p:sp>
      <p:sp>
        <p:nvSpPr>
          <p:cNvPr id="21" name="Shape 19"/>
          <p:cNvSpPr/>
          <p:nvPr/>
        </p:nvSpPr>
        <p:spPr>
          <a:xfrm>
            <a:off x="8732520" y="1783080"/>
            <a:ext cx="3017520" cy="3429000"/>
          </a:xfrm>
          <a:prstGeom prst="roundRect">
            <a:avLst>
              <a:gd name="adj" fmla="val 3636"/>
            </a:avLst>
          </a:prstGeom>
          <a:solidFill>
            <a:srgbClr val="F6F1EA"/>
          </a:solidFill>
          <a:ln w="12700">
            <a:solidFill>
              <a:srgbClr val="F6F1EA"/>
            </a:solidFill>
            <a:prstDash val="solid"/>
          </a:ln>
        </p:spPr>
      </p:sp>
      <p:pic>
        <p:nvPicPr>
          <p:cNvPr id="22" name="Image 0" descr="/home/user/hackathon-codeML-SAA/docs/assets/qr-boussole.png">    </p:cNvPr>
          <p:cNvPicPr>
            <a:picLocks noChangeAspect="1"/>
          </p:cNvPicPr>
          <p:nvPr/>
        </p:nvPicPr>
        <p:blipFill>
          <a:blip r:embed="rId1"/>
          <a:stretch>
            <a:fillRect/>
          </a:stretch>
        </p:blipFill>
        <p:spPr>
          <a:xfrm>
            <a:off x="8915400" y="1920240"/>
            <a:ext cx="2651760" cy="2651760"/>
          </a:xfrm>
          <a:prstGeom prst="rect">
            <a:avLst/>
          </a:prstGeom>
        </p:spPr>
      </p:pic>
      <p:sp>
        <p:nvSpPr>
          <p:cNvPr id="23" name="Text 20"/>
          <p:cNvSpPr txBox="1"/>
          <p:nvPr/>
        </p:nvSpPr>
        <p:spPr>
          <a:xfrm>
            <a:off x="8732520" y="4572000"/>
            <a:ext cx="3017520" cy="320040"/>
          </a:xfrm>
          <a:prstGeom prst="rect">
            <a:avLst/>
          </a:prstGeom>
          <a:noFill/>
          <a:ln/>
        </p:spPr>
        <p:txBody>
          <a:bodyPr wrap="square" lIns="0" tIns="0" rIns="0" bIns="0" rtlCol="0" anchor="ctr"/>
          <a:lstStyle/>
          <a:p>
            <a:pPr algn="ctr" indent="0" marL="0">
              <a:buNone/>
            </a:pPr>
            <a:r>
              <a:rPr lang="en-US" sz="1500" b="1" dirty="0">
                <a:solidFill>
                  <a:srgbClr val="0F1B2D"/>
                </a:solidFill>
              </a:rPr>
              <a:t>Scannez pour essayer</a:t>
            </a:r>
            <a:endParaRPr lang="en-US" sz="1500" dirty="0"/>
          </a:p>
        </p:txBody>
      </p:sp>
      <p:sp>
        <p:nvSpPr>
          <p:cNvPr id="24" name="Text 21"/>
          <p:cNvSpPr txBox="1"/>
          <p:nvPr/>
        </p:nvSpPr>
        <p:spPr>
          <a:xfrm>
            <a:off x="8732520" y="4846320"/>
            <a:ext cx="3017520" cy="274320"/>
          </a:xfrm>
          <a:prstGeom prst="rect">
            <a:avLst/>
          </a:prstGeom>
          <a:noFill/>
          <a:ln/>
        </p:spPr>
        <p:txBody>
          <a:bodyPr wrap="square" lIns="0" tIns="0" rIns="0" bIns="0" rtlCol="0" anchor="ctr"/>
          <a:lstStyle/>
          <a:p>
            <a:pPr algn="ctr" indent="0" marL="0">
              <a:buNone/>
            </a:pPr>
            <a:r>
              <a:rPr lang="en-US" sz="1000" dirty="0">
                <a:solidFill>
                  <a:srgbClr val="0F1B2D"/>
                </a:solidFill>
              </a:rPr>
              <a:t>sam-halimi.github.io/hackathon-codeML-SAA</a:t>
            </a:r>
            <a:endParaRPr lang="en-US" sz="1000" dirty="0"/>
          </a:p>
        </p:txBody>
      </p:sp>
      <p:sp>
        <p:nvSpPr>
          <p:cNvPr id="25" name="Text 22"/>
          <p:cNvSpPr txBox="1"/>
          <p:nvPr/>
        </p:nvSpPr>
        <p:spPr>
          <a:xfrm>
            <a:off x="457200" y="6172200"/>
            <a:ext cx="11247120" cy="411480"/>
          </a:xfrm>
          <a:prstGeom prst="rect">
            <a:avLst/>
          </a:prstGeom>
          <a:noFill/>
          <a:ln/>
        </p:spPr>
        <p:txBody>
          <a:bodyPr wrap="square" lIns="0" tIns="0" rIns="0" bIns="0" rtlCol="0" anchor="ctr"/>
          <a:lstStyle/>
          <a:p>
            <a:pPr indent="0" marL="0">
              <a:buNone/>
            </a:pPr>
            <a:r>
              <a:rPr lang="en-US" sz="1800" i="1" dirty="0">
                <a:solidFill>
                  <a:srgbClr val="F6F1EA"/>
                </a:solidFill>
              </a:rPr>
              <a:t>« On ne remplace pas l'humain auprès de Léa. On lui rend le temps de l'être.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Boussole — pitch</dc:title>
  <dc:subject>PptxGenJS Presentation</dc:subject>
  <dc:creator>PptxGenJS</dc:creator>
  <cp:lastModifiedBy>PptxGenJS</cp:lastModifiedBy>
  <cp:revision>1</cp:revision>
  <dcterms:created xsi:type="dcterms:W3CDTF">2026-10-03T18:34:33Z</dcterms:created>
  <dcterms:modified xsi:type="dcterms:W3CDTF">2026-10-03T18:34:33Z</dcterms:modified>
</cp:coreProperties>
</file>