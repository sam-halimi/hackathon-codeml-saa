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(0:00–0:50) · Histoire + chiffres
Imaginez Léa. Elle est fictive, mais tout ce qui lui arrive est documenté. Léa a 22 ans. Il est 3 h du matin. Elle se réveille chez quelqu'un qu'elle connaît à peine, avec un trou de près de trois heures dans sa soirée. À l'urgence, elle raconte son histoire quatre fois. On lui demande l'heure exacte ; elle ne s'en souvient pas. Et elle ne sait pas encore si elle veut porter plainte. [PAUSE]
Au Canada, seulement 6 % des agressions sexuelles sont signalées. Et le dossier fuit à quatre endroits. Où aller : une victime a fait trois hôpitaux de Montréal avant d'obtenir une trousse. La première nuit : après 24 heures, le sang ne révèle plus la plupart des drogues. La police : une plainte sur cinq classée « non fondée ». Le tribunal : près d'une cause sur trois dépasse les délais Jordan.
Le problème n'est pas la parole des victimes. C'est le dossier qui se construit mal, trop tard, au mauvais endroit.
PERSONNE 2 (0:50–1:05) · Nous
[SEULEMENT SI VRAI : une phrase personnelle.] Au Québec, une femme sur quatre. Statistiquement, chacun de nous connaît quelqu'un qui l'a vécu. On a choisi la sécurité qui compte le plus : celle d'une personne, et de sa preuve.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3 (1:05–2:05) · Solution + démo
Avant le clip : On ne répare pas les tribunaux. On répare la première nuit, celle où tout commence et où la preuve se perd. Voici Boussole. [CLIC sur la vidéo]
0–3 s : Retour à 3 h du matin.
3–8 s : Léa consent étape par étape. Elle peut refuser un prélèvement, et décider plus tard pour la plainte.
8–16 s : Trente heures depuis les faits, substance soupçonnée. Un moteur de règles, pas l'IA, réordonne tout : peau, 18 heures ; VIH, 42 heures ; le sang, c'est trop tard.
16–26 s : Claude range les notes en chronologie ; chaque ligne cite sa source. Le trou de près de trois heures est signalé comme normal après une substance. Et l'IA ne voit jamais son nom.
26–29 s : L'IA est une secrétaire, jamais un juge. L'humain valide chaque ligne.
29–35 s : À l'export, chaque entrée est chaînée par SHA-256. Une retouche, et ça se voit.
Après : Pas de score de crédibilité, pas de coupable, pas de reconnaissance faciale. Hébergé au Canada, chiffré, conforme Loi 25. Rien ne part vers la police sans l'accord de Léa.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PERSONNE 1 (2:05–2:40) · Plan de vente
On vend au soin, pas à la police. Nos clients : les CISSS et CIUSSS qui hébergent les centres désignés, dans les 17 régions. Étape 1, un pilote de trois mois dans un centre, financé par subvention. Étape 2, une licence annuelle par centre, avec la formation. Étape 3, le Québec puis le Canada, avec un module de règles par province. La police et le DPCP reçoivent le dossier, mais ne l'achètent pas : c'est un choix de confiance. [PAUSE] Pour les victimes, c'est gratuit, toujours. Track-Kit suit la boîte de la trousse. Nous, on accompagne la personne.
PERSONNE 2 (2:40–3:00) · Appel à l'action
Le prototype est en ligne : scannez le code. Ce qu'on cherche : un centre désigné pour un pilote de trois mois. [PAUSE] On ne remplace pas l'humain auprès de Léa. On lui rend le temps de l'être.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ellipse">
            <a:avLst/>
          </a:prstGeom>
          <a:ln w="22225">
            <a:solidFill>
              <a:srgbClr val="E8A33D"/>
            </a:solidFill>
            <a:prstDash val="solid"/>
          </a:ln>
        </p:spPr>
      </p:sp>
      <p:sp>
        <p:nvSpPr>
          <p:cNvPr id="3" name="Shape 1"/>
          <p:cNvSpPr/>
          <p:nvPr/>
        </p:nvSpPr>
        <p:spPr>
          <a:xfrm>
            <a:off x="653796" y="411480"/>
            <a:ext cx="100584" cy="256032"/>
          </a:xfrm>
          <a:prstGeom prst="diamond">
            <a:avLst/>
          </a:prstGeom>
          <a:solidFill>
            <a:srgbClr val="E8A33D"/>
          </a:solidFill>
          <a:ln w="12700">
            <a:solidFill>
              <a:srgbClr val="E8A33D"/>
            </a:solidFill>
            <a:prstDash val="solid"/>
          </a:ln>
        </p:spPr>
      </p:sp>
      <p:sp>
        <p:nvSpPr>
          <p:cNvPr id="4" name="Text 2"/>
          <p:cNvSpPr txBox="1"/>
          <p:nvPr/>
        </p:nvSpPr>
        <p:spPr>
          <a:xfrm>
            <a:off x="950976" y="365760"/>
            <a:ext cx="2286000" cy="347472"/>
          </a:xfrm>
          <a:prstGeom prst="rect">
            <a:avLst/>
          </a:prstGeom>
          <a:noFill/>
          <a:ln/>
        </p:spPr>
        <p:txBody>
          <a:bodyPr wrap="square" lIns="0" tIns="0" rIns="0" bIns="0" rtlCol="0" anchor="ctr"/>
          <a:lstStyle/>
          <a:p>
            <a:pPr indent="0" marL="0">
              <a:buNone/>
            </a:pPr>
            <a:r>
              <a:rPr lang="en-US" sz="1800" b="1" dirty="0">
                <a:solidFill>
                  <a:srgbClr val="F6F1EA"/>
                </a:solidFill>
              </a:rPr>
              <a:t>Boussole</a:t>
            </a:r>
            <a:endParaRPr lang="en-US" sz="1800" dirty="0"/>
          </a:p>
        </p:txBody>
      </p:sp>
      <p:sp>
        <p:nvSpPr>
          <p:cNvPr id="5" name="Text 3"/>
          <p:cNvSpPr txBox="1"/>
          <p:nvPr/>
        </p:nvSpPr>
        <p:spPr>
          <a:xfrm>
            <a:off x="7982712" y="384048"/>
            <a:ext cx="3657600" cy="310896"/>
          </a:xfrm>
          <a:prstGeom prst="rect">
            <a:avLst/>
          </a:prstGeom>
          <a:noFill/>
          <a:ln/>
        </p:spPr>
        <p:txBody>
          <a:bodyPr wrap="square" lIns="0" tIns="0" rIns="0" bIns="0" rtlCol="0" anchor="ctr"/>
          <a:lstStyle/>
          <a:p>
            <a:pPr algn="r" indent="0" marL="0">
              <a:buNone/>
            </a:pPr>
            <a:r>
              <a:rPr lang="en-US" sz="1200" b="1" spc="300" kern="0" dirty="0">
                <a:solidFill>
                  <a:srgbClr val="E8A33D"/>
                </a:solidFill>
              </a:rPr>
              <a:t>01 · LE PROBLÈME</a:t>
            </a:r>
            <a:endParaRPr lang="en-US" sz="1200" dirty="0"/>
          </a:p>
        </p:txBody>
      </p:sp>
      <p:sp>
        <p:nvSpPr>
          <p:cNvPr id="6" name="Text 4"/>
          <p:cNvSpPr txBox="1"/>
          <p:nvPr/>
        </p:nvSpPr>
        <p:spPr>
          <a:xfrm>
            <a:off x="548640" y="868680"/>
            <a:ext cx="11064240" cy="777240"/>
          </a:xfrm>
          <a:prstGeom prst="rect">
            <a:avLst/>
          </a:prstGeom>
          <a:noFill/>
          <a:ln/>
        </p:spPr>
        <p:txBody>
          <a:bodyPr wrap="square" lIns="0" tIns="0" rIns="0" bIns="0" rtlCol="0" anchor="ctr"/>
          <a:lstStyle/>
          <a:p>
            <a:pPr indent="0" marL="0">
              <a:buNone/>
            </a:pPr>
            <a:r>
              <a:rPr lang="en-US" sz="3800" b="1" dirty="0">
                <a:solidFill>
                  <a:srgbClr val="F6F1EA"/>
                </a:solidFill>
              </a:rPr>
              <a:t>La preuve a une date </a:t>
            </a:r>
            <a:pPr indent="0" marL="0">
              <a:buNone/>
            </a:pPr>
            <a:r>
              <a:rPr lang="en-US" sz="3800" b="1" dirty="0">
                <a:solidFill>
                  <a:srgbClr val="E06A50"/>
                </a:solidFill>
              </a:rPr>
              <a:t>d'expiration</a:t>
            </a:r>
            <a:endParaRPr lang="en-US" sz="3800" dirty="0"/>
          </a:p>
        </p:txBody>
      </p:sp>
      <p:sp>
        <p:nvSpPr>
          <p:cNvPr id="7" name="Text 5"/>
          <p:cNvSpPr txBox="1"/>
          <p:nvPr/>
        </p:nvSpPr>
        <p:spPr>
          <a:xfrm>
            <a:off x="548640" y="1645920"/>
            <a:ext cx="11064240" cy="411480"/>
          </a:xfrm>
          <a:prstGeom prst="rect">
            <a:avLst/>
          </a:prstGeom>
          <a:noFill/>
          <a:ln/>
        </p:spPr>
        <p:txBody>
          <a:bodyPr wrap="square" lIns="0" tIns="0" rIns="0" bIns="0" rtlCol="0" anchor="ctr"/>
          <a:lstStyle/>
          <a:p>
            <a:pPr indent="0" marL="0">
              <a:buNone/>
            </a:pPr>
            <a:r>
              <a:rPr lang="en-US" sz="1800" dirty="0">
                <a:solidFill>
                  <a:srgbClr val="9AA6B8"/>
                </a:solidFill>
              </a:rPr>
              <a:t>Au Canada, seulement </a:t>
            </a:r>
            <a:pPr indent="0" marL="0">
              <a:buNone/>
            </a:pPr>
            <a:r>
              <a:rPr lang="en-US" sz="1800" b="1" dirty="0">
                <a:solidFill>
                  <a:srgbClr val="E8A33D"/>
                </a:solidFill>
              </a:rPr>
              <a:t>6 %</a:t>
            </a:r>
            <a:pPr indent="0" marL="0">
              <a:buNone/>
            </a:pPr>
            <a:r>
              <a:rPr lang="en-US" sz="1800" dirty="0">
                <a:solidFill>
                  <a:srgbClr val="9AA6B8"/>
                </a:solidFill>
              </a:rPr>
              <a:t> des agressions sexuelles sont signalées à la police. Et le dossier fuit à chaque étape.</a:t>
            </a:r>
            <a:endParaRPr lang="en-US" sz="1800" dirty="0"/>
          </a:p>
        </p:txBody>
      </p:sp>
      <p:sp>
        <p:nvSpPr>
          <p:cNvPr id="8" name="Shape 6"/>
          <p:cNvSpPr/>
          <p:nvPr/>
        </p:nvSpPr>
        <p:spPr>
          <a:xfrm>
            <a:off x="548640" y="2286000"/>
            <a:ext cx="2606040" cy="3520440"/>
          </a:xfrm>
          <a:prstGeom prst="roundRect">
            <a:avLst>
              <a:gd name="adj" fmla="val 3509"/>
            </a:avLst>
          </a:prstGeom>
          <a:solidFill>
            <a:srgbClr val="18263C"/>
          </a:solidFill>
          <a:ln w="6350">
            <a:solidFill>
              <a:srgbClr val="18263C"/>
            </a:solidFill>
            <a:prstDash val="solid"/>
          </a:ln>
        </p:spPr>
      </p:sp>
      <p:pic>
        <p:nvPicPr>
          <p:cNvPr id="9" name="Image 0" descr="/home/user/hackathon-codeML-SAA/docs/assets/articles/noovo.jpg">    </p:cNvPr>
          <p:cNvPicPr>
            <a:picLocks noChangeAspect="1"/>
          </p:cNvPicPr>
          <p:nvPr/>
        </p:nvPicPr>
        <p:blipFill>
          <a:blip r:embed="rId1"/>
          <a:srcRect l="0" r="0" t="0" b="0"/>
          <a:stretch/>
        </p:blipFill>
        <p:spPr>
          <a:xfrm>
            <a:off x="548640" y="2286000"/>
            <a:ext cx="2606040" cy="1325880"/>
          </a:xfrm>
          <a:prstGeom prst="rect">
            <a:avLst/>
          </a:prstGeom>
        </p:spPr>
      </p:pic>
      <p:sp>
        <p:nvSpPr>
          <p:cNvPr id="10" name="Text 7"/>
          <p:cNvSpPr txBox="1"/>
          <p:nvPr/>
        </p:nvSpPr>
        <p:spPr>
          <a:xfrm>
            <a:off x="731520" y="3749040"/>
            <a:ext cx="2240280" cy="256032"/>
          </a:xfrm>
          <a:prstGeom prst="rect">
            <a:avLst/>
          </a:prstGeom>
          <a:noFill/>
          <a:ln/>
        </p:spPr>
        <p:txBody>
          <a:bodyPr wrap="square" lIns="0" tIns="0" rIns="0" bIns="0" rtlCol="0" anchor="ctr"/>
          <a:lstStyle/>
          <a:p>
            <a:pPr indent="0" marL="0">
              <a:buNone/>
            </a:pPr>
            <a:r>
              <a:rPr lang="en-US" sz="1100" b="1" spc="200" kern="0" dirty="0">
                <a:solidFill>
                  <a:srgbClr val="E8A33D"/>
                </a:solidFill>
              </a:rPr>
              <a:t>1 · OÙ ALLER ?</a:t>
            </a:r>
            <a:endParaRPr lang="en-US" sz="1100" dirty="0"/>
          </a:p>
        </p:txBody>
      </p:sp>
      <p:sp>
        <p:nvSpPr>
          <p:cNvPr id="11" name="Text 8"/>
          <p:cNvSpPr txBox="1"/>
          <p:nvPr/>
        </p:nvSpPr>
        <p:spPr>
          <a:xfrm>
            <a:off x="731520" y="4023360"/>
            <a:ext cx="2240280" cy="731520"/>
          </a:xfrm>
          <a:prstGeom prst="rect">
            <a:avLst/>
          </a:prstGeom>
          <a:noFill/>
          <a:ln/>
        </p:spPr>
        <p:txBody>
          <a:bodyPr wrap="square" lIns="0" tIns="0" rIns="0" bIns="0" rtlCol="0" anchor="t"/>
          <a:lstStyle/>
          <a:p>
            <a:pPr indent="0" marL="0">
              <a:buNone/>
            </a:pPr>
            <a:r>
              <a:rPr lang="en-US" sz="1200" i="1" dirty="0">
                <a:solidFill>
                  <a:srgbClr val="F6F1EA"/>
                </a:solidFill>
              </a:rPr>
              <a:t>« Pourquoi a-t-on refusé une trousse médicolégale à une femme francophone ? »</a:t>
            </a:r>
            <a:endParaRPr lang="en-US" sz="1200" dirty="0"/>
          </a:p>
        </p:txBody>
      </p:sp>
      <p:sp>
        <p:nvSpPr>
          <p:cNvPr id="12" name="Text 9"/>
          <p:cNvSpPr txBox="1"/>
          <p:nvPr/>
        </p:nvSpPr>
        <p:spPr>
          <a:xfrm>
            <a:off x="731520" y="4754880"/>
            <a:ext cx="2240280" cy="548640"/>
          </a:xfrm>
          <a:prstGeom prst="rect">
            <a:avLst/>
          </a:prstGeom>
          <a:noFill/>
          <a:ln/>
        </p:spPr>
        <p:txBody>
          <a:bodyPr wrap="square" lIns="0" tIns="0" rIns="0" bIns="0" rtlCol="0" anchor="ctr"/>
          <a:lstStyle/>
          <a:p>
            <a:pPr indent="0" marL="0">
              <a:buNone/>
            </a:pPr>
            <a:r>
              <a:rPr lang="en-US" sz="3000" b="1" dirty="0">
                <a:solidFill>
                  <a:srgbClr val="E06A50"/>
                </a:solidFill>
              </a:rPr>
              <a:t>3 hôpitaux</a:t>
            </a:r>
            <a:endParaRPr lang="en-US" sz="3000" dirty="0"/>
          </a:p>
        </p:txBody>
      </p:sp>
      <p:sp>
        <p:nvSpPr>
          <p:cNvPr id="13" name="Text 10"/>
          <p:cNvSpPr txBox="1"/>
          <p:nvPr/>
        </p:nvSpPr>
        <p:spPr>
          <a:xfrm>
            <a:off x="731520" y="5303520"/>
            <a:ext cx="2240280" cy="256032"/>
          </a:xfrm>
          <a:prstGeom prst="rect">
            <a:avLst/>
          </a:prstGeom>
          <a:noFill/>
          <a:ln/>
        </p:spPr>
        <p:txBody>
          <a:bodyPr wrap="square" lIns="0" tIns="0" rIns="0" bIns="0" rtlCol="0" anchor="ctr"/>
          <a:lstStyle/>
          <a:p>
            <a:pPr indent="0" marL="0">
              <a:buNone/>
            </a:pPr>
            <a:r>
              <a:rPr lang="en-US" sz="1200" dirty="0">
                <a:solidFill>
                  <a:srgbClr val="9AA6B8"/>
                </a:solidFill>
              </a:rPr>
              <a:t>avant d'obtenir une trousse</a:t>
            </a:r>
            <a:endParaRPr lang="en-US" sz="1200" dirty="0"/>
          </a:p>
        </p:txBody>
      </p:sp>
      <p:sp>
        <p:nvSpPr>
          <p:cNvPr id="14" name="Text 11"/>
          <p:cNvSpPr txBox="1"/>
          <p:nvPr/>
        </p:nvSpPr>
        <p:spPr>
          <a:xfrm>
            <a:off x="731520" y="5513832"/>
            <a:ext cx="2240280" cy="201168"/>
          </a:xfrm>
          <a:prstGeom prst="rect">
            <a:avLst/>
          </a:prstGeom>
          <a:noFill/>
          <a:ln/>
        </p:spPr>
        <p:txBody>
          <a:bodyPr wrap="square" lIns="0" tIns="0" rIns="0" bIns="0" rtlCol="0" anchor="ctr"/>
          <a:lstStyle/>
          <a:p>
            <a:pPr indent="0" marL="0">
              <a:buNone/>
            </a:pPr>
            <a:r>
              <a:rPr lang="en-US" sz="900" dirty="0">
                <a:solidFill>
                  <a:srgbClr val="9AA6B8"/>
                </a:solidFill>
              </a:rPr>
              <a:t>Noovo · 2023</a:t>
            </a:r>
            <a:endParaRPr lang="en-US" sz="900" dirty="0"/>
          </a:p>
        </p:txBody>
      </p:sp>
      <p:sp>
        <p:nvSpPr>
          <p:cNvPr id="15" name="Shape 12"/>
          <p:cNvSpPr/>
          <p:nvPr/>
        </p:nvSpPr>
        <p:spPr>
          <a:xfrm>
            <a:off x="3367735" y="2286000"/>
            <a:ext cx="2606040" cy="3520440"/>
          </a:xfrm>
          <a:prstGeom prst="roundRect">
            <a:avLst>
              <a:gd name="adj" fmla="val 3509"/>
            </a:avLst>
          </a:prstGeom>
          <a:solidFill>
            <a:srgbClr val="18263C"/>
          </a:solidFill>
          <a:ln w="25400">
            <a:solidFill>
              <a:srgbClr val="E8A33D"/>
            </a:solidFill>
            <a:prstDash val="solid"/>
          </a:ln>
        </p:spPr>
      </p:sp>
      <p:sp>
        <p:nvSpPr>
          <p:cNvPr id="16" name="Shape 13"/>
          <p:cNvSpPr/>
          <p:nvPr/>
        </p:nvSpPr>
        <p:spPr>
          <a:xfrm>
            <a:off x="3386023" y="2304288"/>
            <a:ext cx="2569464" cy="1307592"/>
          </a:xfrm>
          <a:prstGeom prst="rect">
            <a:avLst/>
          </a:prstGeom>
          <a:solidFill>
            <a:srgbClr val="E8A33D"/>
          </a:solidFill>
          <a:ln w="12700">
            <a:solidFill>
              <a:srgbClr val="E8A33D"/>
            </a:solidFill>
            <a:prstDash val="solid"/>
          </a:ln>
        </p:spPr>
      </p:sp>
      <p:sp>
        <p:nvSpPr>
          <p:cNvPr id="17" name="Text 14"/>
          <p:cNvSpPr txBox="1"/>
          <p:nvPr/>
        </p:nvSpPr>
        <p:spPr>
          <a:xfrm>
            <a:off x="3367735" y="2514600"/>
            <a:ext cx="2606040" cy="822960"/>
          </a:xfrm>
          <a:prstGeom prst="rect">
            <a:avLst/>
          </a:prstGeom>
          <a:noFill/>
          <a:ln/>
        </p:spPr>
        <p:txBody>
          <a:bodyPr wrap="square" lIns="0" tIns="0" rIns="0" bIns="0" rtlCol="0" anchor="ctr"/>
          <a:lstStyle/>
          <a:p>
            <a:pPr algn="ctr" indent="0" marL="0">
              <a:buNone/>
            </a:pPr>
            <a:r>
              <a:rPr lang="en-US" sz="5400" b="1" dirty="0">
                <a:solidFill>
                  <a:srgbClr val="0F1B2D"/>
                </a:solidFill>
              </a:rPr>
              <a:t>03:00</a:t>
            </a:r>
            <a:endParaRPr lang="en-US" sz="5400" dirty="0"/>
          </a:p>
        </p:txBody>
      </p:sp>
      <p:sp>
        <p:nvSpPr>
          <p:cNvPr id="18" name="Text 15"/>
          <p:cNvSpPr txBox="1"/>
          <p:nvPr/>
        </p:nvSpPr>
        <p:spPr>
          <a:xfrm>
            <a:off x="3550615" y="3749040"/>
            <a:ext cx="2240280" cy="256032"/>
          </a:xfrm>
          <a:prstGeom prst="rect">
            <a:avLst/>
          </a:prstGeom>
          <a:noFill/>
          <a:ln/>
        </p:spPr>
        <p:txBody>
          <a:bodyPr wrap="square" lIns="0" tIns="0" rIns="0" bIns="0" rtlCol="0" anchor="ctr"/>
          <a:lstStyle/>
          <a:p>
            <a:pPr indent="0" marL="0">
              <a:buNone/>
            </a:pPr>
            <a:r>
              <a:rPr lang="en-US" sz="1100" b="1" spc="200" kern="0" dirty="0">
                <a:solidFill>
                  <a:srgbClr val="E8A33D"/>
                </a:solidFill>
              </a:rPr>
              <a:t>2 · LA PREMIÈRE NUIT</a:t>
            </a:r>
            <a:endParaRPr lang="en-US" sz="1100" dirty="0"/>
          </a:p>
        </p:txBody>
      </p:sp>
      <p:sp>
        <p:nvSpPr>
          <p:cNvPr id="19" name="Text 16"/>
          <p:cNvSpPr txBox="1"/>
          <p:nvPr/>
        </p:nvSpPr>
        <p:spPr>
          <a:xfrm>
            <a:off x="3550615" y="4023360"/>
            <a:ext cx="2240280" cy="731520"/>
          </a:xfrm>
          <a:prstGeom prst="rect">
            <a:avLst/>
          </a:prstGeom>
          <a:noFill/>
          <a:ln/>
        </p:spPr>
        <p:txBody>
          <a:bodyPr wrap="square" lIns="0" tIns="0" rIns="0" bIns="0" rtlCol="0" anchor="t"/>
          <a:lstStyle/>
          <a:p>
            <a:pPr indent="0" marL="0">
              <a:buNone/>
            </a:pPr>
            <a:r>
              <a:rPr lang="en-US" sz="1200" i="1" dirty="0">
                <a:solidFill>
                  <a:srgbClr val="F6F1EA"/>
                </a:solidFill>
              </a:rPr>
              <a:t>La plupart des drogues ne sont plus détectables dans le sang après 24 h.</a:t>
            </a:r>
            <a:endParaRPr lang="en-US" sz="1200" dirty="0"/>
          </a:p>
        </p:txBody>
      </p:sp>
      <p:sp>
        <p:nvSpPr>
          <p:cNvPr id="20" name="Text 17"/>
          <p:cNvSpPr txBox="1"/>
          <p:nvPr/>
        </p:nvSpPr>
        <p:spPr>
          <a:xfrm>
            <a:off x="3550615" y="4754880"/>
            <a:ext cx="2240280" cy="548640"/>
          </a:xfrm>
          <a:prstGeom prst="rect">
            <a:avLst/>
          </a:prstGeom>
          <a:noFill/>
          <a:ln/>
        </p:spPr>
        <p:txBody>
          <a:bodyPr wrap="square" lIns="0" tIns="0" rIns="0" bIns="0" rtlCol="0" anchor="ctr"/>
          <a:lstStyle/>
          <a:p>
            <a:pPr indent="0" marL="0">
              <a:buNone/>
            </a:pPr>
            <a:r>
              <a:rPr lang="en-US" sz="3000" b="1" dirty="0">
                <a:solidFill>
                  <a:srgbClr val="E06A50"/>
                </a:solidFill>
              </a:rPr>
              <a:t>24 h</a:t>
            </a:r>
            <a:endParaRPr lang="en-US" sz="3000" dirty="0"/>
          </a:p>
        </p:txBody>
      </p:sp>
      <p:sp>
        <p:nvSpPr>
          <p:cNvPr id="21" name="Text 18"/>
          <p:cNvSpPr txBox="1"/>
          <p:nvPr/>
        </p:nvSpPr>
        <p:spPr>
          <a:xfrm>
            <a:off x="3550615" y="5303520"/>
            <a:ext cx="2240280" cy="256032"/>
          </a:xfrm>
          <a:prstGeom prst="rect">
            <a:avLst/>
          </a:prstGeom>
          <a:noFill/>
          <a:ln/>
        </p:spPr>
        <p:txBody>
          <a:bodyPr wrap="square" lIns="0" tIns="0" rIns="0" bIns="0" rtlCol="0" anchor="ctr"/>
          <a:lstStyle/>
          <a:p>
            <a:pPr indent="0" marL="0">
              <a:buNone/>
            </a:pPr>
            <a:r>
              <a:rPr lang="en-US" sz="1200" dirty="0">
                <a:solidFill>
                  <a:srgbClr val="9AA6B8"/>
                </a:solidFill>
              </a:rPr>
              <a:t>pour la toxicologie sanguine</a:t>
            </a:r>
            <a:endParaRPr lang="en-US" sz="1200" dirty="0"/>
          </a:p>
        </p:txBody>
      </p:sp>
      <p:sp>
        <p:nvSpPr>
          <p:cNvPr id="22" name="Text 19"/>
          <p:cNvSpPr txBox="1"/>
          <p:nvPr/>
        </p:nvSpPr>
        <p:spPr>
          <a:xfrm>
            <a:off x="3550615" y="5513832"/>
            <a:ext cx="2240280" cy="201168"/>
          </a:xfrm>
          <a:prstGeom prst="rect">
            <a:avLst/>
          </a:prstGeom>
          <a:noFill/>
          <a:ln/>
        </p:spPr>
        <p:txBody>
          <a:bodyPr wrap="square" lIns="0" tIns="0" rIns="0" bIns="0" rtlCol="0" anchor="ctr"/>
          <a:lstStyle/>
          <a:p>
            <a:pPr indent="0" marL="0">
              <a:buNone/>
            </a:pPr>
            <a:r>
              <a:rPr lang="en-US" sz="900" dirty="0">
                <a:solidFill>
                  <a:srgbClr val="9AA6B8"/>
                </a:solidFill>
              </a:rPr>
              <a:t>Norme ANSI/ASB 121</a:t>
            </a:r>
            <a:endParaRPr lang="en-US" sz="900" dirty="0"/>
          </a:p>
        </p:txBody>
      </p:sp>
      <p:sp>
        <p:nvSpPr>
          <p:cNvPr id="23" name="Shape 20"/>
          <p:cNvSpPr/>
          <p:nvPr/>
        </p:nvSpPr>
        <p:spPr>
          <a:xfrm>
            <a:off x="6186830" y="2286000"/>
            <a:ext cx="2606040" cy="3520440"/>
          </a:xfrm>
          <a:prstGeom prst="roundRect">
            <a:avLst>
              <a:gd name="adj" fmla="val 3509"/>
            </a:avLst>
          </a:prstGeom>
          <a:solidFill>
            <a:srgbClr val="18263C"/>
          </a:solidFill>
          <a:ln w="6350">
            <a:solidFill>
              <a:srgbClr val="18263C"/>
            </a:solidFill>
            <a:prstDash val="solid"/>
          </a:ln>
        </p:spPr>
      </p:sp>
      <p:pic>
        <p:nvPicPr>
          <p:cNvPr id="24" name="Image 1" descr="/home/user/hackathon-codeML-SAA/docs/assets/articles/globe2.jpg">    </p:cNvPr>
          <p:cNvPicPr>
            <a:picLocks noChangeAspect="1"/>
          </p:cNvPicPr>
          <p:nvPr/>
        </p:nvPicPr>
        <p:blipFill>
          <a:blip r:embed="rId2"/>
          <a:srcRect l="0" r="0" t="0" b="0"/>
          <a:stretch/>
        </p:blipFill>
        <p:spPr>
          <a:xfrm>
            <a:off x="6186830" y="2286000"/>
            <a:ext cx="2606040" cy="1325880"/>
          </a:xfrm>
          <a:prstGeom prst="rect">
            <a:avLst/>
          </a:prstGeom>
        </p:spPr>
      </p:pic>
      <p:sp>
        <p:nvSpPr>
          <p:cNvPr id="25" name="Text 21"/>
          <p:cNvSpPr txBox="1"/>
          <p:nvPr/>
        </p:nvSpPr>
        <p:spPr>
          <a:xfrm>
            <a:off x="6369710" y="3749040"/>
            <a:ext cx="2240280" cy="256032"/>
          </a:xfrm>
          <a:prstGeom prst="rect">
            <a:avLst/>
          </a:prstGeom>
          <a:noFill/>
          <a:ln/>
        </p:spPr>
        <p:txBody>
          <a:bodyPr wrap="square" lIns="0" tIns="0" rIns="0" bIns="0" rtlCol="0" anchor="ctr"/>
          <a:lstStyle/>
          <a:p>
            <a:pPr indent="0" marL="0">
              <a:buNone/>
            </a:pPr>
            <a:r>
              <a:rPr lang="en-US" sz="1100" b="1" spc="200" kern="0" dirty="0">
                <a:solidFill>
                  <a:srgbClr val="E8A33D"/>
                </a:solidFill>
              </a:rPr>
              <a:t>3 · LA POLICE</a:t>
            </a:r>
            <a:endParaRPr lang="en-US" sz="1100" dirty="0"/>
          </a:p>
        </p:txBody>
      </p:sp>
      <p:sp>
        <p:nvSpPr>
          <p:cNvPr id="26" name="Text 22"/>
          <p:cNvSpPr txBox="1"/>
          <p:nvPr/>
        </p:nvSpPr>
        <p:spPr>
          <a:xfrm>
            <a:off x="6369710" y="4023360"/>
            <a:ext cx="2240280" cy="731520"/>
          </a:xfrm>
          <a:prstGeom prst="rect">
            <a:avLst/>
          </a:prstGeom>
          <a:noFill/>
          <a:ln/>
        </p:spPr>
        <p:txBody>
          <a:bodyPr wrap="square" lIns="0" tIns="0" rIns="0" bIns="0" rtlCol="0" anchor="t"/>
          <a:lstStyle/>
          <a:p>
            <a:pPr indent="0" marL="0">
              <a:buNone/>
            </a:pPr>
            <a:r>
              <a:rPr lang="en-US" sz="1200" i="1" dirty="0">
                <a:solidFill>
                  <a:srgbClr val="F6F1EA"/>
                </a:solidFill>
              </a:rPr>
              <a:t>« Will police believe you? »</a:t>
            </a:r>
            <a:endParaRPr lang="en-US" sz="1200" dirty="0"/>
          </a:p>
        </p:txBody>
      </p:sp>
      <p:sp>
        <p:nvSpPr>
          <p:cNvPr id="27" name="Text 23"/>
          <p:cNvSpPr txBox="1"/>
          <p:nvPr/>
        </p:nvSpPr>
        <p:spPr>
          <a:xfrm>
            <a:off x="6369710" y="4754880"/>
            <a:ext cx="2240280" cy="548640"/>
          </a:xfrm>
          <a:prstGeom prst="rect">
            <a:avLst/>
          </a:prstGeom>
          <a:noFill/>
          <a:ln/>
        </p:spPr>
        <p:txBody>
          <a:bodyPr wrap="square" lIns="0" tIns="0" rIns="0" bIns="0" rtlCol="0" anchor="ctr"/>
          <a:lstStyle/>
          <a:p>
            <a:pPr indent="0" marL="0">
              <a:buNone/>
            </a:pPr>
            <a:r>
              <a:rPr lang="en-US" sz="3000" b="1" dirty="0">
                <a:solidFill>
                  <a:srgbClr val="E06A50"/>
                </a:solidFill>
              </a:rPr>
              <a:t>1 sur 5</a:t>
            </a:r>
            <a:endParaRPr lang="en-US" sz="3000" dirty="0"/>
          </a:p>
        </p:txBody>
      </p:sp>
      <p:sp>
        <p:nvSpPr>
          <p:cNvPr id="28" name="Text 24"/>
          <p:cNvSpPr txBox="1"/>
          <p:nvPr/>
        </p:nvSpPr>
        <p:spPr>
          <a:xfrm>
            <a:off x="6369710" y="5303520"/>
            <a:ext cx="2240280" cy="256032"/>
          </a:xfrm>
          <a:prstGeom prst="rect">
            <a:avLst/>
          </a:prstGeom>
          <a:noFill/>
          <a:ln/>
        </p:spPr>
        <p:txBody>
          <a:bodyPr wrap="square" lIns="0" tIns="0" rIns="0" bIns="0" rtlCol="0" anchor="ctr"/>
          <a:lstStyle/>
          <a:p>
            <a:pPr indent="0" marL="0">
              <a:buNone/>
            </a:pPr>
            <a:r>
              <a:rPr lang="en-US" sz="1200" dirty="0">
                <a:solidFill>
                  <a:srgbClr val="9AA6B8"/>
                </a:solidFill>
              </a:rPr>
              <a:t>plaintes classées « non fondées »</a:t>
            </a:r>
            <a:endParaRPr lang="en-US" sz="1200" dirty="0"/>
          </a:p>
        </p:txBody>
      </p:sp>
      <p:sp>
        <p:nvSpPr>
          <p:cNvPr id="29" name="Text 25"/>
          <p:cNvSpPr txBox="1"/>
          <p:nvPr/>
        </p:nvSpPr>
        <p:spPr>
          <a:xfrm>
            <a:off x="6369710" y="5513832"/>
            <a:ext cx="2240280" cy="201168"/>
          </a:xfrm>
          <a:prstGeom prst="rect">
            <a:avLst/>
          </a:prstGeom>
          <a:noFill/>
          <a:ln/>
        </p:spPr>
        <p:txBody>
          <a:bodyPr wrap="square" lIns="0" tIns="0" rIns="0" bIns="0" rtlCol="0" anchor="ctr"/>
          <a:lstStyle/>
          <a:p>
            <a:pPr indent="0" marL="0">
              <a:buNone/>
            </a:pPr>
            <a:r>
              <a:rPr lang="en-US" sz="900" dirty="0">
                <a:solidFill>
                  <a:srgbClr val="9AA6B8"/>
                </a:solidFill>
              </a:rPr>
              <a:t>The Globe and Mail · enquête « Unfounded »</a:t>
            </a:r>
            <a:endParaRPr lang="en-US" sz="900" dirty="0"/>
          </a:p>
        </p:txBody>
      </p:sp>
      <p:sp>
        <p:nvSpPr>
          <p:cNvPr id="30" name="Shape 26"/>
          <p:cNvSpPr/>
          <p:nvPr/>
        </p:nvSpPr>
        <p:spPr>
          <a:xfrm>
            <a:off x="9005926" y="2286000"/>
            <a:ext cx="2606040" cy="3520440"/>
          </a:xfrm>
          <a:prstGeom prst="roundRect">
            <a:avLst>
              <a:gd name="adj" fmla="val 3509"/>
            </a:avLst>
          </a:prstGeom>
          <a:solidFill>
            <a:srgbClr val="18263C"/>
          </a:solidFill>
          <a:ln w="6350">
            <a:solidFill>
              <a:srgbClr val="18263C"/>
            </a:solidFill>
            <a:prstDash val="solid"/>
          </a:ln>
        </p:spPr>
      </p:sp>
      <p:pic>
        <p:nvPicPr>
          <p:cNvPr id="31" name="Image 2" descr="/home/user/hackathon-codeML-SAA/docs/assets/articles/cbc.jpg">    </p:cNvPr>
          <p:cNvPicPr>
            <a:picLocks noChangeAspect="1"/>
          </p:cNvPicPr>
          <p:nvPr/>
        </p:nvPicPr>
        <p:blipFill>
          <a:blip r:embed="rId3"/>
          <a:srcRect l="0" r="0" t="0" b="0"/>
          <a:stretch/>
        </p:blipFill>
        <p:spPr>
          <a:xfrm>
            <a:off x="9005926" y="2286000"/>
            <a:ext cx="2606040" cy="1325880"/>
          </a:xfrm>
          <a:prstGeom prst="rect">
            <a:avLst/>
          </a:prstGeom>
        </p:spPr>
      </p:pic>
      <p:sp>
        <p:nvSpPr>
          <p:cNvPr id="32" name="Text 27"/>
          <p:cNvSpPr txBox="1"/>
          <p:nvPr/>
        </p:nvSpPr>
        <p:spPr>
          <a:xfrm>
            <a:off x="9188806" y="3749040"/>
            <a:ext cx="2240280" cy="256032"/>
          </a:xfrm>
          <a:prstGeom prst="rect">
            <a:avLst/>
          </a:prstGeom>
          <a:noFill/>
          <a:ln/>
        </p:spPr>
        <p:txBody>
          <a:bodyPr wrap="square" lIns="0" tIns="0" rIns="0" bIns="0" rtlCol="0" anchor="ctr"/>
          <a:lstStyle/>
          <a:p>
            <a:pPr indent="0" marL="0">
              <a:buNone/>
            </a:pPr>
            <a:r>
              <a:rPr lang="en-US" sz="1100" b="1" spc="200" kern="0" dirty="0">
                <a:solidFill>
                  <a:srgbClr val="E8A33D"/>
                </a:solidFill>
              </a:rPr>
              <a:t>4 · LE TRIBUNAL</a:t>
            </a:r>
            <a:endParaRPr lang="en-US" sz="1100" dirty="0"/>
          </a:p>
        </p:txBody>
      </p:sp>
      <p:sp>
        <p:nvSpPr>
          <p:cNvPr id="33" name="Text 28"/>
          <p:cNvSpPr txBox="1"/>
          <p:nvPr/>
        </p:nvSpPr>
        <p:spPr>
          <a:xfrm>
            <a:off x="9188806" y="4023360"/>
            <a:ext cx="2240280" cy="731520"/>
          </a:xfrm>
          <a:prstGeom prst="rect">
            <a:avLst/>
          </a:prstGeom>
          <a:noFill/>
          <a:ln/>
        </p:spPr>
        <p:txBody>
          <a:bodyPr wrap="square" lIns="0" tIns="0" rIns="0" bIns="0" rtlCol="0" anchor="t"/>
          <a:lstStyle/>
          <a:p>
            <a:pPr indent="0" marL="0">
              <a:buNone/>
            </a:pPr>
            <a:r>
              <a:rPr lang="en-US" sz="1200" i="1" dirty="0">
                <a:solidFill>
                  <a:srgbClr val="F6F1EA"/>
                </a:solidFill>
              </a:rPr>
              <a:t>« Hundreds of stayed sexual assault cases send chilling message to victims »</a:t>
            </a:r>
            <a:endParaRPr lang="en-US" sz="1200" dirty="0"/>
          </a:p>
        </p:txBody>
      </p:sp>
      <p:sp>
        <p:nvSpPr>
          <p:cNvPr id="34" name="Text 29"/>
          <p:cNvSpPr txBox="1"/>
          <p:nvPr/>
        </p:nvSpPr>
        <p:spPr>
          <a:xfrm>
            <a:off x="9188806" y="4754880"/>
            <a:ext cx="2240280" cy="548640"/>
          </a:xfrm>
          <a:prstGeom prst="rect">
            <a:avLst/>
          </a:prstGeom>
          <a:noFill/>
          <a:ln/>
        </p:spPr>
        <p:txBody>
          <a:bodyPr wrap="square" lIns="0" tIns="0" rIns="0" bIns="0" rtlCol="0" anchor="ctr"/>
          <a:lstStyle/>
          <a:p>
            <a:pPr indent="0" marL="0">
              <a:buNone/>
            </a:pPr>
            <a:r>
              <a:rPr lang="en-US" sz="3000" b="1" dirty="0">
                <a:solidFill>
                  <a:srgbClr val="E06A50"/>
                </a:solidFill>
              </a:rPr>
              <a:t>1 sur 3</a:t>
            </a:r>
            <a:endParaRPr lang="en-US" sz="3000" dirty="0"/>
          </a:p>
        </p:txBody>
      </p:sp>
      <p:sp>
        <p:nvSpPr>
          <p:cNvPr id="35" name="Text 30"/>
          <p:cNvSpPr txBox="1"/>
          <p:nvPr/>
        </p:nvSpPr>
        <p:spPr>
          <a:xfrm>
            <a:off x="9188806" y="5303520"/>
            <a:ext cx="2240280" cy="256032"/>
          </a:xfrm>
          <a:prstGeom prst="rect">
            <a:avLst/>
          </a:prstGeom>
          <a:noFill/>
          <a:ln/>
        </p:spPr>
        <p:txBody>
          <a:bodyPr wrap="square" lIns="0" tIns="0" rIns="0" bIns="0" rtlCol="0" anchor="ctr"/>
          <a:lstStyle/>
          <a:p>
            <a:pPr indent="0" marL="0">
              <a:buNone/>
            </a:pPr>
            <a:r>
              <a:rPr lang="en-US" sz="1200" dirty="0">
                <a:solidFill>
                  <a:srgbClr val="9AA6B8"/>
                </a:solidFill>
              </a:rPr>
              <a:t>causes au-delà des délais Jordan</a:t>
            </a:r>
            <a:endParaRPr lang="en-US" sz="1200" dirty="0"/>
          </a:p>
        </p:txBody>
      </p:sp>
      <p:sp>
        <p:nvSpPr>
          <p:cNvPr id="36" name="Text 31"/>
          <p:cNvSpPr txBox="1"/>
          <p:nvPr/>
        </p:nvSpPr>
        <p:spPr>
          <a:xfrm>
            <a:off x="9188806" y="5513832"/>
            <a:ext cx="2240280" cy="201168"/>
          </a:xfrm>
          <a:prstGeom prst="rect">
            <a:avLst/>
          </a:prstGeom>
          <a:noFill/>
          <a:ln/>
        </p:spPr>
        <p:txBody>
          <a:bodyPr wrap="square" lIns="0" tIns="0" rIns="0" bIns="0" rtlCol="0" anchor="ctr"/>
          <a:lstStyle/>
          <a:p>
            <a:pPr indent="0" marL="0">
              <a:buNone/>
            </a:pPr>
            <a:r>
              <a:rPr lang="en-US" sz="900" dirty="0">
                <a:solidFill>
                  <a:srgbClr val="9AA6B8"/>
                </a:solidFill>
              </a:rPr>
              <a:t>CBC News · 2025</a:t>
            </a:r>
            <a:endParaRPr lang="en-US" sz="900" dirty="0"/>
          </a:p>
        </p:txBody>
      </p:sp>
      <p:sp>
        <p:nvSpPr>
          <p:cNvPr id="37" name="Text 32"/>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700" i="1" dirty="0">
                <a:solidFill>
                  <a:srgbClr val="F6F1EA"/>
                </a:solidFill>
              </a:rPr>
              <a:t>Le problème n'est pas la parole des victimes. C'est le dossier qui se construit mal, trop tard, au mauvais endroit.</a:t>
            </a:r>
            <a:endParaRPr lang="en-US" sz="1700" dirty="0"/>
          </a:p>
        </p:txBody>
      </p:sp>
      <p:sp>
        <p:nvSpPr>
          <p:cNvPr id="38" name="Text 33"/>
          <p:cNvSpPr txBox="1"/>
          <p:nvPr/>
        </p:nvSpPr>
        <p:spPr>
          <a:xfrm>
            <a:off x="548640" y="6400800"/>
            <a:ext cx="11064240" cy="228600"/>
          </a:xfrm>
          <a:prstGeom prst="rect">
            <a:avLst/>
          </a:prstGeom>
          <a:noFill/>
          <a:ln/>
        </p:spPr>
        <p:txBody>
          <a:bodyPr wrap="square" lIns="0" tIns="0" rIns="0" bIns="0" rtlCol="0" anchor="ctr"/>
          <a:lstStyle/>
          <a:p>
            <a:pPr indent="0" marL="0">
              <a:buNone/>
            </a:pPr>
            <a:r>
              <a:rPr lang="en-US" sz="900" dirty="0">
                <a:solidFill>
                  <a:srgbClr val="9AA6B8"/>
                </a:solidFill>
              </a:rPr>
              <a:t>Sources : StatCan (ESG 2019 ; affaires 2015-19), Noovo, The Globe and Mail, CBC, Ombudsman fédéral des victimes (2022-23), ANSI/ASB 121. Léa : personnage fictif.</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ellipse">
            <a:avLst/>
          </a:prstGeom>
          <a:ln w="22225">
            <a:solidFill>
              <a:srgbClr val="E8A33D"/>
            </a:solidFill>
            <a:prstDash val="solid"/>
          </a:ln>
        </p:spPr>
      </p:sp>
      <p:sp>
        <p:nvSpPr>
          <p:cNvPr id="3" name="Shape 1"/>
          <p:cNvSpPr/>
          <p:nvPr/>
        </p:nvSpPr>
        <p:spPr>
          <a:xfrm>
            <a:off x="653796" y="411480"/>
            <a:ext cx="100584" cy="256032"/>
          </a:xfrm>
          <a:prstGeom prst="diamond">
            <a:avLst/>
          </a:prstGeom>
          <a:solidFill>
            <a:srgbClr val="E8A33D"/>
          </a:solidFill>
          <a:ln w="12700">
            <a:solidFill>
              <a:srgbClr val="E8A33D"/>
            </a:solidFill>
            <a:prstDash val="solid"/>
          </a:ln>
        </p:spPr>
      </p:sp>
      <p:sp>
        <p:nvSpPr>
          <p:cNvPr id="4" name="Text 2"/>
          <p:cNvSpPr txBox="1"/>
          <p:nvPr/>
        </p:nvSpPr>
        <p:spPr>
          <a:xfrm>
            <a:off x="950976" y="365760"/>
            <a:ext cx="2286000" cy="347472"/>
          </a:xfrm>
          <a:prstGeom prst="rect">
            <a:avLst/>
          </a:prstGeom>
          <a:noFill/>
          <a:ln/>
        </p:spPr>
        <p:txBody>
          <a:bodyPr wrap="square" lIns="0" tIns="0" rIns="0" bIns="0" rtlCol="0" anchor="ctr"/>
          <a:lstStyle/>
          <a:p>
            <a:pPr indent="0" marL="0">
              <a:buNone/>
            </a:pPr>
            <a:r>
              <a:rPr lang="en-US" sz="1800" b="1" dirty="0">
                <a:solidFill>
                  <a:srgbClr val="F6F1EA"/>
                </a:solidFill>
              </a:rPr>
              <a:t>Boussole</a:t>
            </a:r>
            <a:endParaRPr lang="en-US" sz="1800" dirty="0"/>
          </a:p>
        </p:txBody>
      </p:sp>
      <p:sp>
        <p:nvSpPr>
          <p:cNvPr id="5" name="Text 3"/>
          <p:cNvSpPr txBox="1"/>
          <p:nvPr/>
        </p:nvSpPr>
        <p:spPr>
          <a:xfrm>
            <a:off x="7982712" y="384048"/>
            <a:ext cx="3657600" cy="310896"/>
          </a:xfrm>
          <a:prstGeom prst="rect">
            <a:avLst/>
          </a:prstGeom>
          <a:noFill/>
          <a:ln/>
        </p:spPr>
        <p:txBody>
          <a:bodyPr wrap="square" lIns="0" tIns="0" rIns="0" bIns="0" rtlCol="0" anchor="ctr"/>
          <a:lstStyle/>
          <a:p>
            <a:pPr algn="r" indent="0" marL="0">
              <a:buNone/>
            </a:pPr>
            <a:r>
              <a:rPr lang="en-US" sz="1200" b="1" spc="300" kern="0" dirty="0">
                <a:solidFill>
                  <a:srgbClr val="E8A33D"/>
                </a:solidFill>
              </a:rPr>
              <a:t>02 · NOTRE SOLUTION</a:t>
            </a:r>
            <a:endParaRPr lang="en-US" sz="1200" dirty="0"/>
          </a:p>
        </p:txBody>
      </p:sp>
      <p:sp>
        <p:nvSpPr>
          <p:cNvPr id="6" name="Text 4"/>
          <p:cNvSpPr txBox="1"/>
          <p:nvPr/>
        </p:nvSpPr>
        <p:spPr>
          <a:xfrm>
            <a:off x="548640" y="868680"/>
            <a:ext cx="11064240" cy="777240"/>
          </a:xfrm>
          <a:prstGeom prst="rect">
            <a:avLst/>
          </a:prstGeom>
          <a:noFill/>
          <a:ln/>
        </p:spPr>
        <p:txBody>
          <a:bodyPr wrap="square" lIns="0" tIns="0" rIns="0" bIns="0" rtlCol="0" anchor="ctr"/>
          <a:lstStyle/>
          <a:p>
            <a:pPr indent="0" marL="0">
              <a:buNone/>
            </a:pPr>
            <a:r>
              <a:rPr lang="en-US" sz="3800" b="1" dirty="0">
                <a:solidFill>
                  <a:srgbClr val="F6F1EA"/>
                </a:solidFill>
              </a:rPr>
              <a:t>L'IA guide. </a:t>
            </a:r>
            <a:pPr indent="0" marL="0">
              <a:buNone/>
            </a:pPr>
            <a:r>
              <a:rPr lang="en-US" sz="3800" b="1" dirty="0">
                <a:solidFill>
                  <a:srgbClr val="E8A33D"/>
                </a:solidFill>
              </a:rPr>
              <a:t>L'humain décide.</a:t>
            </a:r>
            <a:endParaRPr lang="en-US" sz="3800" dirty="0"/>
          </a:p>
        </p:txBody>
      </p:sp>
      <p:sp>
        <p:nvSpPr>
          <p:cNvPr id="7" name="Text 5"/>
          <p:cNvSpPr txBox="1"/>
          <p:nvPr/>
        </p:nvSpPr>
        <p:spPr>
          <a:xfrm>
            <a:off x="548640" y="1645920"/>
            <a:ext cx="11064240" cy="411480"/>
          </a:xfrm>
          <a:prstGeom prst="rect">
            <a:avLst/>
          </a:prstGeom>
          <a:noFill/>
          <a:ln/>
        </p:spPr>
        <p:txBody>
          <a:bodyPr wrap="square" lIns="0" tIns="0" rIns="0" bIns="0" rtlCol="0" anchor="ctr"/>
          <a:lstStyle/>
          <a:p>
            <a:pPr indent="0" marL="0">
              <a:buNone/>
            </a:pPr>
            <a:r>
              <a:rPr lang="en-US" sz="1700" dirty="0">
                <a:solidFill>
                  <a:srgbClr val="9AA6B8"/>
                </a:solidFill>
              </a:rPr>
              <a:t>Le copilote des soignants pour la première nuit : un seul récit, des consentements respectés, des délais tenus, une preuve intacte.</a:t>
            </a:r>
            <a:endParaRPr lang="en-US" sz="1700" dirty="0"/>
          </a:p>
        </p:txBody>
      </p:sp>
      <p:sp>
        <p:nvSpPr>
          <p:cNvPr id="8" name="Shape 6"/>
          <p:cNvSpPr/>
          <p:nvPr/>
        </p:nvSpPr>
        <p:spPr>
          <a:xfrm>
            <a:off x="493776" y="2185416"/>
            <a:ext cx="6876288" cy="3915918"/>
          </a:xfrm>
          <a:prstGeom prst="roundRect">
            <a:avLst>
              <a:gd name="adj" fmla="val 1868"/>
            </a:avLst>
          </a:prstGeom>
          <a:solidFill>
            <a:srgbClr val="E8A33D"/>
          </a:solidFill>
          <a:ln w="12700">
            <a:solidFill>
              <a:srgbClr val="E8A33D"/>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2240280"/>
            <a:ext cx="6766560" cy="3806190"/>
          </a:xfrm>
          <a:prstGeom prst="rect">
            <a:avLst/>
          </a:prstGeom>
        </p:spPr>
      </p:pic>
      <p:sp>
        <p:nvSpPr>
          <p:cNvPr id="10" name="Text 7"/>
          <p:cNvSpPr txBox="1"/>
          <p:nvPr/>
        </p:nvSpPr>
        <p:spPr>
          <a:xfrm>
            <a:off x="548640" y="6156198"/>
            <a:ext cx="6766560" cy="228600"/>
          </a:xfrm>
          <a:prstGeom prst="rect">
            <a:avLst/>
          </a:prstGeom>
          <a:noFill/>
          <a:ln/>
        </p:spPr>
        <p:txBody>
          <a:bodyPr wrap="square" lIns="0" tIns="0" rIns="0" bIns="0" rtlCol="0" anchor="ctr"/>
          <a:lstStyle/>
          <a:p>
            <a:pPr indent="0" marL="0">
              <a:buNone/>
            </a:pPr>
            <a:r>
              <a:rPr lang="en-US" sz="1000" dirty="0">
                <a:solidFill>
                  <a:srgbClr val="9AA6B8"/>
                </a:solidFill>
              </a:rPr>
              <a:t>Démo réelle du prototype · données 100 % fictives · cliquer pour lancer</a:t>
            </a:r>
            <a:endParaRPr lang="en-US" sz="1000" dirty="0"/>
          </a:p>
        </p:txBody>
      </p:sp>
      <p:sp>
        <p:nvSpPr>
          <p:cNvPr id="11" name="Shape 8"/>
          <p:cNvSpPr/>
          <p:nvPr/>
        </p:nvSpPr>
        <p:spPr>
          <a:xfrm>
            <a:off x="7680960" y="2286000"/>
            <a:ext cx="502920" cy="502920"/>
          </a:xfrm>
          <a:prstGeom prst="ellipse">
            <a:avLst/>
          </a:prstGeom>
          <a:solidFill>
            <a:srgbClr val="18263C"/>
          </a:solidFill>
          <a:ln w="19050">
            <a:solidFill>
              <a:srgbClr val="E8A33D"/>
            </a:solidFill>
            <a:prstDash val="solid"/>
          </a:ln>
        </p:spPr>
      </p:sp>
      <p:sp>
        <p:nvSpPr>
          <p:cNvPr id="12" name="Text 9"/>
          <p:cNvSpPr txBox="1"/>
          <p:nvPr/>
        </p:nvSpPr>
        <p:spPr>
          <a:xfrm>
            <a:off x="7680960" y="2286000"/>
            <a:ext cx="502920" cy="502920"/>
          </a:xfrm>
          <a:prstGeom prst="rect">
            <a:avLst/>
          </a:prstGeom>
          <a:noFill/>
          <a:ln/>
        </p:spPr>
        <p:txBody>
          <a:bodyPr wrap="square" lIns="0" tIns="0" rIns="0" bIns="0" rtlCol="0" anchor="ctr"/>
          <a:lstStyle/>
          <a:p>
            <a:pPr algn="ctr" indent="0" marL="0">
              <a:buNone/>
            </a:pPr>
            <a:r>
              <a:rPr lang="en-US" sz="1800" b="1" dirty="0">
                <a:solidFill>
                  <a:srgbClr val="E8A33D"/>
                </a:solidFill>
              </a:rPr>
              <a:t>1</a:t>
            </a:r>
            <a:endParaRPr lang="en-US" sz="1800" dirty="0"/>
          </a:p>
        </p:txBody>
      </p:sp>
      <p:sp>
        <p:nvSpPr>
          <p:cNvPr id="13" name="Text 10"/>
          <p:cNvSpPr txBox="1"/>
          <p:nvPr/>
        </p:nvSpPr>
        <p:spPr>
          <a:xfrm>
            <a:off x="8366760" y="2240280"/>
            <a:ext cx="3291840" cy="292608"/>
          </a:xfrm>
          <a:prstGeom prst="rect">
            <a:avLst/>
          </a:prstGeom>
          <a:noFill/>
          <a:ln/>
        </p:spPr>
        <p:txBody>
          <a:bodyPr wrap="square" lIns="0" tIns="0" rIns="0" bIns="0" rtlCol="0" anchor="ctr"/>
          <a:lstStyle/>
          <a:p>
            <a:pPr indent="0" marL="0">
              <a:buNone/>
            </a:pPr>
            <a:r>
              <a:rPr lang="en-US" sz="1700" b="1" dirty="0">
                <a:solidFill>
                  <a:srgbClr val="F6F1EA"/>
                </a:solidFill>
              </a:rPr>
              <a:t>Règles</a:t>
            </a:r>
            <a:endParaRPr lang="en-US" sz="1700" dirty="0"/>
          </a:p>
        </p:txBody>
      </p:sp>
      <p:sp>
        <p:nvSpPr>
          <p:cNvPr id="14" name="Text 11"/>
          <p:cNvSpPr txBox="1"/>
          <p:nvPr/>
        </p:nvSpPr>
        <p:spPr>
          <a:xfrm>
            <a:off x="8366760" y="2542032"/>
            <a:ext cx="3291840" cy="566928"/>
          </a:xfrm>
          <a:prstGeom prst="rect">
            <a:avLst/>
          </a:prstGeom>
          <a:noFill/>
          <a:ln/>
        </p:spPr>
        <p:txBody>
          <a:bodyPr wrap="square" lIns="0" tIns="0" rIns="0" bIns="0" rtlCol="0" anchor="t"/>
          <a:lstStyle/>
          <a:p>
            <a:pPr indent="0" marL="0">
              <a:buNone/>
            </a:pPr>
            <a:r>
              <a:rPr lang="en-US" sz="1200" dirty="0">
                <a:solidFill>
                  <a:srgbClr val="9AA6B8"/>
                </a:solidFill>
              </a:rPr>
              <a:t>Délais et prélèvements prioritaires calculés par des règles écrites, validées. Pas d'IA.</a:t>
            </a:r>
            <a:endParaRPr lang="en-US" sz="1200" dirty="0"/>
          </a:p>
        </p:txBody>
      </p:sp>
      <p:sp>
        <p:nvSpPr>
          <p:cNvPr id="15" name="Shape 12"/>
          <p:cNvSpPr/>
          <p:nvPr/>
        </p:nvSpPr>
        <p:spPr>
          <a:xfrm>
            <a:off x="7680960" y="3218688"/>
            <a:ext cx="502920" cy="502920"/>
          </a:xfrm>
          <a:prstGeom prst="ellipse">
            <a:avLst/>
          </a:prstGeom>
          <a:solidFill>
            <a:srgbClr val="E8A33D"/>
          </a:solidFill>
          <a:ln w="19050">
            <a:solidFill>
              <a:srgbClr val="E8A33D"/>
            </a:solidFill>
            <a:prstDash val="solid"/>
          </a:ln>
        </p:spPr>
      </p:sp>
      <p:sp>
        <p:nvSpPr>
          <p:cNvPr id="16" name="Text 13"/>
          <p:cNvSpPr txBox="1"/>
          <p:nvPr/>
        </p:nvSpPr>
        <p:spPr>
          <a:xfrm>
            <a:off x="7680960" y="3218688"/>
            <a:ext cx="502920" cy="502920"/>
          </a:xfrm>
          <a:prstGeom prst="rect">
            <a:avLst/>
          </a:prstGeom>
          <a:noFill/>
          <a:ln/>
        </p:spPr>
        <p:txBody>
          <a:bodyPr wrap="square" lIns="0" tIns="0" rIns="0" bIns="0" rtlCol="0" anchor="ctr"/>
          <a:lstStyle/>
          <a:p>
            <a:pPr algn="ctr" indent="0" marL="0">
              <a:buNone/>
            </a:pPr>
            <a:r>
              <a:rPr lang="en-US" sz="1800" b="1" dirty="0">
                <a:solidFill>
                  <a:srgbClr val="0F1B2D"/>
                </a:solidFill>
              </a:rPr>
              <a:t>2</a:t>
            </a:r>
            <a:endParaRPr lang="en-US" sz="1800" dirty="0"/>
          </a:p>
        </p:txBody>
      </p:sp>
      <p:sp>
        <p:nvSpPr>
          <p:cNvPr id="17" name="Text 14"/>
          <p:cNvSpPr txBox="1"/>
          <p:nvPr/>
        </p:nvSpPr>
        <p:spPr>
          <a:xfrm>
            <a:off x="8366760" y="3172968"/>
            <a:ext cx="3291840" cy="292608"/>
          </a:xfrm>
          <a:prstGeom prst="rect">
            <a:avLst/>
          </a:prstGeom>
          <a:noFill/>
          <a:ln/>
        </p:spPr>
        <p:txBody>
          <a:bodyPr wrap="square" lIns="0" tIns="0" rIns="0" bIns="0" rtlCol="0" anchor="ctr"/>
          <a:lstStyle/>
          <a:p>
            <a:pPr indent="0" marL="0">
              <a:buNone/>
            </a:pPr>
            <a:r>
              <a:rPr lang="en-US" sz="1700" b="1" dirty="0">
                <a:solidFill>
                  <a:srgbClr val="F6F1EA"/>
                </a:solidFill>
              </a:rPr>
              <a:t>IA (Claude)</a:t>
            </a:r>
            <a:endParaRPr lang="en-US" sz="1700" dirty="0"/>
          </a:p>
        </p:txBody>
      </p:sp>
      <p:sp>
        <p:nvSpPr>
          <p:cNvPr id="18" name="Text 15"/>
          <p:cNvSpPr txBox="1"/>
          <p:nvPr/>
        </p:nvSpPr>
        <p:spPr>
          <a:xfrm>
            <a:off x="8366760" y="3474720"/>
            <a:ext cx="3291840" cy="566928"/>
          </a:xfrm>
          <a:prstGeom prst="rect">
            <a:avLst/>
          </a:prstGeom>
          <a:noFill/>
          <a:ln/>
        </p:spPr>
        <p:txBody>
          <a:bodyPr wrap="square" lIns="0" tIns="0" rIns="0" bIns="0" rtlCol="0" anchor="t"/>
          <a:lstStyle/>
          <a:p>
            <a:pPr indent="0" marL="0">
              <a:buNone/>
            </a:pPr>
            <a:r>
              <a:rPr lang="en-US" sz="1200" dirty="0">
                <a:solidFill>
                  <a:srgbClr val="9AA6B8"/>
                </a:solidFill>
              </a:rPr>
              <a:t>Range les notes en chronologie, cite chaque source, signale les trous. Secrétaire, jamais juge.</a:t>
            </a:r>
            <a:endParaRPr lang="en-US" sz="1200" dirty="0"/>
          </a:p>
        </p:txBody>
      </p:sp>
      <p:sp>
        <p:nvSpPr>
          <p:cNvPr id="19" name="Shape 16"/>
          <p:cNvSpPr/>
          <p:nvPr/>
        </p:nvSpPr>
        <p:spPr>
          <a:xfrm>
            <a:off x="7680960" y="4151376"/>
            <a:ext cx="502920" cy="502920"/>
          </a:xfrm>
          <a:prstGeom prst="ellipse">
            <a:avLst/>
          </a:prstGeom>
          <a:solidFill>
            <a:srgbClr val="18263C"/>
          </a:solidFill>
          <a:ln w="19050">
            <a:solidFill>
              <a:srgbClr val="E8A33D"/>
            </a:solidFill>
            <a:prstDash val="solid"/>
          </a:ln>
        </p:spPr>
      </p:sp>
      <p:sp>
        <p:nvSpPr>
          <p:cNvPr id="20" name="Text 17"/>
          <p:cNvSpPr txBox="1"/>
          <p:nvPr/>
        </p:nvSpPr>
        <p:spPr>
          <a:xfrm>
            <a:off x="7680960" y="4151376"/>
            <a:ext cx="502920" cy="502920"/>
          </a:xfrm>
          <a:prstGeom prst="rect">
            <a:avLst/>
          </a:prstGeom>
          <a:noFill/>
          <a:ln/>
        </p:spPr>
        <p:txBody>
          <a:bodyPr wrap="square" lIns="0" tIns="0" rIns="0" bIns="0" rtlCol="0" anchor="ctr"/>
          <a:lstStyle/>
          <a:p>
            <a:pPr algn="ctr" indent="0" marL="0">
              <a:buNone/>
            </a:pPr>
            <a:r>
              <a:rPr lang="en-US" sz="1800" b="1" dirty="0">
                <a:solidFill>
                  <a:srgbClr val="E8A33D"/>
                </a:solidFill>
              </a:rPr>
              <a:t>3</a:t>
            </a:r>
            <a:endParaRPr lang="en-US" sz="1800" dirty="0"/>
          </a:p>
        </p:txBody>
      </p:sp>
      <p:sp>
        <p:nvSpPr>
          <p:cNvPr id="21" name="Text 18"/>
          <p:cNvSpPr txBox="1"/>
          <p:nvPr/>
        </p:nvSpPr>
        <p:spPr>
          <a:xfrm>
            <a:off x="8366760" y="4105656"/>
            <a:ext cx="3291840" cy="292608"/>
          </a:xfrm>
          <a:prstGeom prst="rect">
            <a:avLst/>
          </a:prstGeom>
          <a:noFill/>
          <a:ln/>
        </p:spPr>
        <p:txBody>
          <a:bodyPr wrap="square" lIns="0" tIns="0" rIns="0" bIns="0" rtlCol="0" anchor="ctr"/>
          <a:lstStyle/>
          <a:p>
            <a:pPr indent="0" marL="0">
              <a:buNone/>
            </a:pPr>
            <a:r>
              <a:rPr lang="en-US" sz="1700" b="1" dirty="0">
                <a:solidFill>
                  <a:srgbClr val="F6F1EA"/>
                </a:solidFill>
              </a:rPr>
              <a:t>Humain</a:t>
            </a:r>
            <a:endParaRPr lang="en-US" sz="1700" dirty="0"/>
          </a:p>
        </p:txBody>
      </p:sp>
      <p:sp>
        <p:nvSpPr>
          <p:cNvPr id="22" name="Text 19"/>
          <p:cNvSpPr txBox="1"/>
          <p:nvPr/>
        </p:nvSpPr>
        <p:spPr>
          <a:xfrm>
            <a:off x="8366760" y="4407408"/>
            <a:ext cx="3291840" cy="566928"/>
          </a:xfrm>
          <a:prstGeom prst="rect">
            <a:avLst/>
          </a:prstGeom>
          <a:noFill/>
          <a:ln/>
        </p:spPr>
        <p:txBody>
          <a:bodyPr wrap="square" lIns="0" tIns="0" rIns="0" bIns="0" rtlCol="0" anchor="t"/>
          <a:lstStyle/>
          <a:p>
            <a:pPr indent="0" marL="0">
              <a:buNone/>
            </a:pPr>
            <a:r>
              <a:rPr lang="en-US" sz="1200" dirty="0">
                <a:solidFill>
                  <a:srgbClr val="9AA6B8"/>
                </a:solidFill>
              </a:rPr>
              <a:t>Le soignant valide chaque ligne. La victime consent à chaque étape.</a:t>
            </a:r>
            <a:endParaRPr lang="en-US" sz="1200" dirty="0"/>
          </a:p>
        </p:txBody>
      </p:sp>
      <p:sp>
        <p:nvSpPr>
          <p:cNvPr id="23" name="Text 20"/>
          <p:cNvSpPr txBox="1"/>
          <p:nvPr/>
        </p:nvSpPr>
        <p:spPr>
          <a:xfrm>
            <a:off x="7680960" y="5074920"/>
            <a:ext cx="3931920" cy="228600"/>
          </a:xfrm>
          <a:prstGeom prst="rect">
            <a:avLst/>
          </a:prstGeom>
          <a:noFill/>
          <a:ln/>
        </p:spPr>
        <p:txBody>
          <a:bodyPr wrap="square" lIns="0" tIns="0" rIns="0" bIns="0" rtlCol="0" anchor="ctr"/>
          <a:lstStyle/>
          <a:p>
            <a:pPr indent="0" marL="0">
              <a:buNone/>
            </a:pPr>
            <a:r>
              <a:rPr lang="en-US" sz="1100" b="1" spc="200" kern="0" dirty="0">
                <a:solidFill>
                  <a:srgbClr val="E8A33D"/>
                </a:solidFill>
              </a:rPr>
              <a:t>VIE PRIVÉE, CONCRÈTEMENT</a:t>
            </a:r>
            <a:endParaRPr lang="en-US" sz="1100" dirty="0"/>
          </a:p>
        </p:txBody>
      </p:sp>
      <p:sp>
        <p:nvSpPr>
          <p:cNvPr id="24" name="Shape 21"/>
          <p:cNvSpPr/>
          <p:nvPr/>
        </p:nvSpPr>
        <p:spPr>
          <a:xfrm>
            <a:off x="7680960" y="5376672"/>
            <a:ext cx="1920240" cy="347472"/>
          </a:xfrm>
          <a:prstGeom prst="roundRect">
            <a:avLst>
              <a:gd name="adj" fmla="val 50000"/>
            </a:avLst>
          </a:prstGeom>
          <a:solidFill>
            <a:srgbClr val="18263C"/>
          </a:solidFill>
          <a:ln w="9525">
            <a:solidFill>
              <a:srgbClr val="2E4262"/>
            </a:solidFill>
            <a:prstDash val="solid"/>
          </a:ln>
        </p:spPr>
      </p:sp>
      <p:sp>
        <p:nvSpPr>
          <p:cNvPr id="25" name="Text 22"/>
          <p:cNvSpPr txBox="1"/>
          <p:nvPr/>
        </p:nvSpPr>
        <p:spPr>
          <a:xfrm>
            <a:off x="7680960" y="5376672"/>
            <a:ext cx="1920240" cy="347472"/>
          </a:xfrm>
          <a:prstGeom prst="rect">
            <a:avLst/>
          </a:prstGeom>
          <a:noFill/>
          <a:ln/>
        </p:spPr>
        <p:txBody>
          <a:bodyPr wrap="square" lIns="0" tIns="0" rIns="0" bIns="0" rtlCol="0" anchor="ctr"/>
          <a:lstStyle/>
          <a:p>
            <a:pPr algn="ctr" indent="0" marL="0">
              <a:buNone/>
            </a:pPr>
            <a:r>
              <a:rPr lang="en-US" sz="1050" dirty="0">
                <a:solidFill>
                  <a:srgbClr val="F6F1EA"/>
                </a:solidFill>
              </a:rPr>
              <a:t>Nom masqué avant l'IA</a:t>
            </a:r>
            <a:endParaRPr lang="en-US" sz="1050" dirty="0"/>
          </a:p>
        </p:txBody>
      </p:sp>
      <p:sp>
        <p:nvSpPr>
          <p:cNvPr id="26" name="Shape 23"/>
          <p:cNvSpPr/>
          <p:nvPr/>
        </p:nvSpPr>
        <p:spPr>
          <a:xfrm>
            <a:off x="9692640" y="5376672"/>
            <a:ext cx="1920240" cy="347472"/>
          </a:xfrm>
          <a:prstGeom prst="roundRect">
            <a:avLst>
              <a:gd name="adj" fmla="val 50000"/>
            </a:avLst>
          </a:prstGeom>
          <a:solidFill>
            <a:srgbClr val="18263C"/>
          </a:solidFill>
          <a:ln w="9525">
            <a:solidFill>
              <a:srgbClr val="2E4262"/>
            </a:solidFill>
            <a:prstDash val="solid"/>
          </a:ln>
        </p:spPr>
      </p:sp>
      <p:sp>
        <p:nvSpPr>
          <p:cNvPr id="27" name="Text 24"/>
          <p:cNvSpPr txBox="1"/>
          <p:nvPr/>
        </p:nvSpPr>
        <p:spPr>
          <a:xfrm>
            <a:off x="9692640" y="5376672"/>
            <a:ext cx="1920240" cy="347472"/>
          </a:xfrm>
          <a:prstGeom prst="rect">
            <a:avLst/>
          </a:prstGeom>
          <a:noFill/>
          <a:ln/>
        </p:spPr>
        <p:txBody>
          <a:bodyPr wrap="square" lIns="0" tIns="0" rIns="0" bIns="0" rtlCol="0" anchor="ctr"/>
          <a:lstStyle/>
          <a:p>
            <a:pPr algn="ctr" indent="0" marL="0">
              <a:buNone/>
            </a:pPr>
            <a:r>
              <a:rPr lang="en-US" sz="1050" dirty="0">
                <a:solidFill>
                  <a:srgbClr val="F6F1EA"/>
                </a:solidFill>
              </a:rPr>
              <a:t>Consentement révocable</a:t>
            </a:r>
            <a:endParaRPr lang="en-US" sz="1050" dirty="0"/>
          </a:p>
        </p:txBody>
      </p:sp>
      <p:sp>
        <p:nvSpPr>
          <p:cNvPr id="28" name="Shape 25"/>
          <p:cNvSpPr/>
          <p:nvPr/>
        </p:nvSpPr>
        <p:spPr>
          <a:xfrm>
            <a:off x="7680960" y="5815584"/>
            <a:ext cx="1920240" cy="347472"/>
          </a:xfrm>
          <a:prstGeom prst="roundRect">
            <a:avLst>
              <a:gd name="adj" fmla="val 50000"/>
            </a:avLst>
          </a:prstGeom>
          <a:solidFill>
            <a:srgbClr val="18263C"/>
          </a:solidFill>
          <a:ln w="9525">
            <a:solidFill>
              <a:srgbClr val="2E4262"/>
            </a:solidFill>
            <a:prstDash val="solid"/>
          </a:ln>
        </p:spPr>
      </p:sp>
      <p:sp>
        <p:nvSpPr>
          <p:cNvPr id="29" name="Text 26"/>
          <p:cNvSpPr txBox="1"/>
          <p:nvPr/>
        </p:nvSpPr>
        <p:spPr>
          <a:xfrm>
            <a:off x="7680960" y="5815584"/>
            <a:ext cx="1920240" cy="347472"/>
          </a:xfrm>
          <a:prstGeom prst="rect">
            <a:avLst/>
          </a:prstGeom>
          <a:noFill/>
          <a:ln/>
        </p:spPr>
        <p:txBody>
          <a:bodyPr wrap="square" lIns="0" tIns="0" rIns="0" bIns="0" rtlCol="0" anchor="ctr"/>
          <a:lstStyle/>
          <a:p>
            <a:pPr algn="ctr" indent="0" marL="0">
              <a:buNone/>
            </a:pPr>
            <a:r>
              <a:rPr lang="en-US" sz="1050" dirty="0">
                <a:solidFill>
                  <a:srgbClr val="F6F1EA"/>
                </a:solidFill>
              </a:rPr>
              <a:t>Rien vers la police sans accord</a:t>
            </a:r>
            <a:endParaRPr lang="en-US" sz="1050" dirty="0"/>
          </a:p>
        </p:txBody>
      </p:sp>
      <p:sp>
        <p:nvSpPr>
          <p:cNvPr id="30" name="Shape 27"/>
          <p:cNvSpPr/>
          <p:nvPr/>
        </p:nvSpPr>
        <p:spPr>
          <a:xfrm>
            <a:off x="9692640" y="5815584"/>
            <a:ext cx="1920240" cy="347472"/>
          </a:xfrm>
          <a:prstGeom prst="roundRect">
            <a:avLst>
              <a:gd name="adj" fmla="val 50000"/>
            </a:avLst>
          </a:prstGeom>
          <a:solidFill>
            <a:srgbClr val="18263C"/>
          </a:solidFill>
          <a:ln w="9525">
            <a:solidFill>
              <a:srgbClr val="2E4262"/>
            </a:solidFill>
            <a:prstDash val="solid"/>
          </a:ln>
        </p:spPr>
      </p:sp>
      <p:sp>
        <p:nvSpPr>
          <p:cNvPr id="31" name="Text 28"/>
          <p:cNvSpPr txBox="1"/>
          <p:nvPr/>
        </p:nvSpPr>
        <p:spPr>
          <a:xfrm>
            <a:off x="9692640" y="5815584"/>
            <a:ext cx="1920240" cy="347472"/>
          </a:xfrm>
          <a:prstGeom prst="rect">
            <a:avLst/>
          </a:prstGeom>
          <a:noFill/>
          <a:ln/>
        </p:spPr>
        <p:txBody>
          <a:bodyPr wrap="square" lIns="0" tIns="0" rIns="0" bIns="0" rtlCol="0" anchor="ctr"/>
          <a:lstStyle/>
          <a:p>
            <a:pPr algn="ctr" indent="0" marL="0">
              <a:buNone/>
            </a:pPr>
            <a:r>
              <a:rPr lang="en-US" sz="1050" dirty="0">
                <a:solidFill>
                  <a:srgbClr val="F6F1EA"/>
                </a:solidFill>
              </a:rPr>
              <a:t>Journal SHA-256 infalsifiable</a:t>
            </a:r>
            <a:endParaRPr lang="en-US" sz="1050" dirty="0"/>
          </a:p>
        </p:txBody>
      </p:sp>
      <p:sp>
        <p:nvSpPr>
          <p:cNvPr id="32" name="Text 29"/>
          <p:cNvSpPr txBox="1"/>
          <p:nvPr/>
        </p:nvSpPr>
        <p:spPr>
          <a:xfrm>
            <a:off x="548640" y="6400800"/>
            <a:ext cx="11064240" cy="228600"/>
          </a:xfrm>
          <a:prstGeom prst="rect">
            <a:avLst/>
          </a:prstGeom>
          <a:noFill/>
          <a:ln/>
        </p:spPr>
        <p:txBody>
          <a:bodyPr wrap="square" lIns="0" tIns="0" rIns="0" bIns="0" rtlCol="0" anchor="ctr"/>
          <a:lstStyle/>
          <a:p>
            <a:pPr indent="0" marL="0">
              <a:buNone/>
            </a:pPr>
            <a:r>
              <a:rPr lang="en-US" sz="900" dirty="0">
                <a:solidFill>
                  <a:srgbClr val="9AA6B8"/>
                </a:solidFill>
              </a:rPr>
              <a:t>Pas de score de crédibilité · pas de coupable désigné · pas de reconnaissance faciale · en production : hébergement au Canada, chiffrement, EFVP Loi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384048"/>
            <a:ext cx="310896" cy="310896"/>
          </a:xfrm>
          <a:prstGeom prst="ellipse">
            <a:avLst/>
          </a:prstGeom>
          <a:ln w="22225">
            <a:solidFill>
              <a:srgbClr val="E8A33D"/>
            </a:solidFill>
            <a:prstDash val="solid"/>
          </a:ln>
        </p:spPr>
      </p:sp>
      <p:sp>
        <p:nvSpPr>
          <p:cNvPr id="3" name="Shape 1"/>
          <p:cNvSpPr/>
          <p:nvPr/>
        </p:nvSpPr>
        <p:spPr>
          <a:xfrm>
            <a:off x="653796" y="411480"/>
            <a:ext cx="100584" cy="256032"/>
          </a:xfrm>
          <a:prstGeom prst="diamond">
            <a:avLst/>
          </a:prstGeom>
          <a:solidFill>
            <a:srgbClr val="E8A33D"/>
          </a:solidFill>
          <a:ln w="12700">
            <a:solidFill>
              <a:srgbClr val="E8A33D"/>
            </a:solidFill>
            <a:prstDash val="solid"/>
          </a:ln>
        </p:spPr>
      </p:sp>
      <p:sp>
        <p:nvSpPr>
          <p:cNvPr id="4" name="Text 2"/>
          <p:cNvSpPr txBox="1"/>
          <p:nvPr/>
        </p:nvSpPr>
        <p:spPr>
          <a:xfrm>
            <a:off x="950976" y="365760"/>
            <a:ext cx="2286000" cy="347472"/>
          </a:xfrm>
          <a:prstGeom prst="rect">
            <a:avLst/>
          </a:prstGeom>
          <a:noFill/>
          <a:ln/>
        </p:spPr>
        <p:txBody>
          <a:bodyPr wrap="square" lIns="0" tIns="0" rIns="0" bIns="0" rtlCol="0" anchor="ctr"/>
          <a:lstStyle/>
          <a:p>
            <a:pPr indent="0" marL="0">
              <a:buNone/>
            </a:pPr>
            <a:r>
              <a:rPr lang="en-US" sz="1800" b="1" dirty="0">
                <a:solidFill>
                  <a:srgbClr val="F6F1EA"/>
                </a:solidFill>
              </a:rPr>
              <a:t>Boussole</a:t>
            </a:r>
            <a:endParaRPr lang="en-US" sz="1800" dirty="0"/>
          </a:p>
        </p:txBody>
      </p:sp>
      <p:sp>
        <p:nvSpPr>
          <p:cNvPr id="5" name="Text 3"/>
          <p:cNvSpPr txBox="1"/>
          <p:nvPr/>
        </p:nvSpPr>
        <p:spPr>
          <a:xfrm>
            <a:off x="7982712" y="384048"/>
            <a:ext cx="3657600" cy="310896"/>
          </a:xfrm>
          <a:prstGeom prst="rect">
            <a:avLst/>
          </a:prstGeom>
          <a:noFill/>
          <a:ln/>
        </p:spPr>
        <p:txBody>
          <a:bodyPr wrap="square" lIns="0" tIns="0" rIns="0" bIns="0" rtlCol="0" anchor="ctr"/>
          <a:lstStyle/>
          <a:p>
            <a:pPr algn="r" indent="0" marL="0">
              <a:buNone/>
            </a:pPr>
            <a:r>
              <a:rPr lang="en-US" sz="1200" b="1" spc="300" kern="0" dirty="0">
                <a:solidFill>
                  <a:srgbClr val="E8A33D"/>
                </a:solidFill>
              </a:rPr>
              <a:t>03 · PLAN DE VENTE</a:t>
            </a:r>
            <a:endParaRPr lang="en-US" sz="1200" dirty="0"/>
          </a:p>
        </p:txBody>
      </p:sp>
      <p:sp>
        <p:nvSpPr>
          <p:cNvPr id="6" name="Text 4"/>
          <p:cNvSpPr txBox="1"/>
          <p:nvPr/>
        </p:nvSpPr>
        <p:spPr>
          <a:xfrm>
            <a:off x="548640" y="868680"/>
            <a:ext cx="11064240" cy="777240"/>
          </a:xfrm>
          <a:prstGeom prst="rect">
            <a:avLst/>
          </a:prstGeom>
          <a:noFill/>
          <a:ln/>
        </p:spPr>
        <p:txBody>
          <a:bodyPr wrap="square" lIns="0" tIns="0" rIns="0" bIns="0" rtlCol="0" anchor="ctr"/>
          <a:lstStyle/>
          <a:p>
            <a:pPr indent="0" marL="0">
              <a:buNone/>
            </a:pPr>
            <a:r>
              <a:rPr lang="en-US" sz="3800" b="1" dirty="0">
                <a:solidFill>
                  <a:srgbClr val="F6F1EA"/>
                </a:solidFill>
              </a:rPr>
              <a:t>On vend au soin. </a:t>
            </a:r>
            <a:pPr indent="0" marL="0">
              <a:buNone/>
            </a:pPr>
            <a:r>
              <a:rPr lang="en-US" sz="3800" b="1" dirty="0">
                <a:solidFill>
                  <a:srgbClr val="E8A33D"/>
                </a:solidFill>
              </a:rPr>
              <a:t>Pas à la police.</a:t>
            </a:r>
            <a:endParaRPr lang="en-US" sz="3800" dirty="0"/>
          </a:p>
        </p:txBody>
      </p:sp>
      <p:sp>
        <p:nvSpPr>
          <p:cNvPr id="7" name="Text 5"/>
          <p:cNvSpPr txBox="1"/>
          <p:nvPr/>
        </p:nvSpPr>
        <p:spPr>
          <a:xfrm>
            <a:off x="548640" y="1645920"/>
            <a:ext cx="11064240" cy="411480"/>
          </a:xfrm>
          <a:prstGeom prst="rect">
            <a:avLst/>
          </a:prstGeom>
          <a:noFill/>
          <a:ln/>
        </p:spPr>
        <p:txBody>
          <a:bodyPr wrap="square" lIns="0" tIns="0" rIns="0" bIns="0" rtlCol="0" anchor="ctr"/>
          <a:lstStyle/>
          <a:p>
            <a:pPr indent="0" marL="0">
              <a:buNone/>
            </a:pPr>
            <a:r>
              <a:rPr lang="en-US" sz="1700" dirty="0">
                <a:solidFill>
                  <a:srgbClr val="9AA6B8"/>
                </a:solidFill>
              </a:rPr>
              <a:t>Client : les établissements de santé (CISSS / CIUSSS) qui hébergent les centres désignés. Gratuit pour les victimes, toujours.</a:t>
            </a:r>
            <a:endParaRPr lang="en-US" sz="1700" dirty="0"/>
          </a:p>
        </p:txBody>
      </p:sp>
      <p:sp>
        <p:nvSpPr>
          <p:cNvPr id="8" name="Shape 6"/>
          <p:cNvSpPr/>
          <p:nvPr/>
        </p:nvSpPr>
        <p:spPr>
          <a:xfrm>
            <a:off x="548640" y="2286000"/>
            <a:ext cx="2514600" cy="2011680"/>
          </a:xfrm>
          <a:prstGeom prst="roundRect">
            <a:avLst>
              <a:gd name="adj" fmla="val 4545"/>
            </a:avLst>
          </a:prstGeom>
          <a:solidFill>
            <a:srgbClr val="E8A33D"/>
          </a:solidFill>
          <a:ln w="9525">
            <a:solidFill>
              <a:srgbClr val="E8A33D"/>
            </a:solidFill>
            <a:prstDash val="solid"/>
          </a:ln>
        </p:spPr>
      </p:sp>
      <p:sp>
        <p:nvSpPr>
          <p:cNvPr id="9" name="Text 7"/>
          <p:cNvSpPr txBox="1"/>
          <p:nvPr/>
        </p:nvSpPr>
        <p:spPr>
          <a:xfrm>
            <a:off x="731520" y="2450592"/>
            <a:ext cx="2148840" cy="256032"/>
          </a:xfrm>
          <a:prstGeom prst="rect">
            <a:avLst/>
          </a:prstGeom>
          <a:noFill/>
          <a:ln/>
        </p:spPr>
        <p:txBody>
          <a:bodyPr wrap="square" lIns="0" tIns="0" rIns="0" bIns="0" rtlCol="0" anchor="ctr"/>
          <a:lstStyle/>
          <a:p>
            <a:pPr indent="0" marL="0">
              <a:buNone/>
            </a:pPr>
            <a:r>
              <a:rPr lang="en-US" sz="1100" b="1" spc="200" kern="0" dirty="0">
                <a:solidFill>
                  <a:srgbClr val="0F1B2D"/>
                </a:solidFill>
              </a:rPr>
              <a:t>0–3 MOIS</a:t>
            </a:r>
            <a:endParaRPr lang="en-US" sz="1100" dirty="0"/>
          </a:p>
        </p:txBody>
      </p:sp>
      <p:sp>
        <p:nvSpPr>
          <p:cNvPr id="10" name="Text 8"/>
          <p:cNvSpPr txBox="1"/>
          <p:nvPr/>
        </p:nvSpPr>
        <p:spPr>
          <a:xfrm>
            <a:off x="731520" y="2743200"/>
            <a:ext cx="2148840" cy="411480"/>
          </a:xfrm>
          <a:prstGeom prst="rect">
            <a:avLst/>
          </a:prstGeom>
          <a:noFill/>
          <a:ln/>
        </p:spPr>
        <p:txBody>
          <a:bodyPr wrap="square" lIns="0" tIns="0" rIns="0" bIns="0" rtlCol="0" anchor="ctr"/>
          <a:lstStyle/>
          <a:p>
            <a:pPr indent="0" marL="0">
              <a:buNone/>
            </a:pPr>
            <a:r>
              <a:rPr lang="en-US" sz="2200" b="1" dirty="0">
                <a:solidFill>
                  <a:srgbClr val="0F1B2D"/>
                </a:solidFill>
              </a:rPr>
              <a:t>Pilote</a:t>
            </a:r>
            <a:endParaRPr lang="en-US" sz="2200" dirty="0"/>
          </a:p>
        </p:txBody>
      </p:sp>
      <p:sp>
        <p:nvSpPr>
          <p:cNvPr id="11" name="Text 9"/>
          <p:cNvSpPr txBox="1"/>
          <p:nvPr/>
        </p:nvSpPr>
        <p:spPr>
          <a:xfrm>
            <a:off x="731520" y="3200400"/>
            <a:ext cx="2148840" cy="1005840"/>
          </a:xfrm>
          <a:prstGeom prst="rect">
            <a:avLst/>
          </a:prstGeom>
          <a:noFill/>
          <a:ln/>
        </p:spPr>
        <p:txBody>
          <a:bodyPr wrap="square" lIns="0" tIns="0" rIns="0" bIns="0" rtlCol="0" anchor="t"/>
          <a:lstStyle/>
          <a:p>
            <a:pPr indent="0" marL="0">
              <a:buNone/>
            </a:pPr>
            <a:r>
              <a:rPr lang="en-US" sz="1250" dirty="0">
                <a:solidFill>
                  <a:srgbClr val="0F1B2D"/>
                </a:solidFill>
              </a:rPr>
              <a:t>1 centre désigné. Financé par subvention (fonds d'aide aux victimes, Mitacs). On mesure l'impact.</a:t>
            </a:r>
            <a:endParaRPr lang="en-US" sz="1250" dirty="0"/>
          </a:p>
        </p:txBody>
      </p:sp>
      <p:sp>
        <p:nvSpPr>
          <p:cNvPr id="12" name="Shape 10"/>
          <p:cNvSpPr/>
          <p:nvPr/>
        </p:nvSpPr>
        <p:spPr>
          <a:xfrm>
            <a:off x="3154680" y="3154680"/>
            <a:ext cx="146304" cy="274320"/>
          </a:xfrm>
          <a:prstGeom prst="rtTriangle">
            <a:avLst/>
          </a:prstGeom>
          <a:solidFill>
            <a:srgbClr val="E8A33D"/>
          </a:solidFill>
          <a:ln w="12700">
            <a:solidFill>
              <a:srgbClr val="E8A33D"/>
            </a:solidFill>
            <a:prstDash val="solid"/>
          </a:ln>
        </p:spPr>
      </p:sp>
      <p:sp>
        <p:nvSpPr>
          <p:cNvPr id="13" name="Shape 11"/>
          <p:cNvSpPr/>
          <p:nvPr/>
        </p:nvSpPr>
        <p:spPr>
          <a:xfrm>
            <a:off x="3383280" y="2286000"/>
            <a:ext cx="2514600" cy="2011680"/>
          </a:xfrm>
          <a:prstGeom prst="roundRect">
            <a:avLst>
              <a:gd name="adj" fmla="val 4545"/>
            </a:avLst>
          </a:prstGeom>
          <a:solidFill>
            <a:srgbClr val="18263C"/>
          </a:solidFill>
          <a:ln w="9525">
            <a:solidFill>
              <a:srgbClr val="2E4262"/>
            </a:solidFill>
            <a:prstDash val="solid"/>
          </a:ln>
        </p:spPr>
      </p:sp>
      <p:sp>
        <p:nvSpPr>
          <p:cNvPr id="14" name="Text 12"/>
          <p:cNvSpPr txBox="1"/>
          <p:nvPr/>
        </p:nvSpPr>
        <p:spPr>
          <a:xfrm>
            <a:off x="3566160" y="2450592"/>
            <a:ext cx="2148840" cy="256032"/>
          </a:xfrm>
          <a:prstGeom prst="rect">
            <a:avLst/>
          </a:prstGeom>
          <a:noFill/>
          <a:ln/>
        </p:spPr>
        <p:txBody>
          <a:bodyPr wrap="square" lIns="0" tIns="0" rIns="0" bIns="0" rtlCol="0" anchor="ctr"/>
          <a:lstStyle/>
          <a:p>
            <a:pPr indent="0" marL="0">
              <a:buNone/>
            </a:pPr>
            <a:r>
              <a:rPr lang="en-US" sz="1100" b="1" spc="200" kern="0" dirty="0">
                <a:solidFill>
                  <a:srgbClr val="E8A33D"/>
                </a:solidFill>
              </a:rPr>
              <a:t>6–12 MOIS</a:t>
            </a:r>
            <a:endParaRPr lang="en-US" sz="1100" dirty="0"/>
          </a:p>
        </p:txBody>
      </p:sp>
      <p:sp>
        <p:nvSpPr>
          <p:cNvPr id="15" name="Text 13"/>
          <p:cNvSpPr txBox="1"/>
          <p:nvPr/>
        </p:nvSpPr>
        <p:spPr>
          <a:xfrm>
            <a:off x="3566160" y="2743200"/>
            <a:ext cx="2148840" cy="411480"/>
          </a:xfrm>
          <a:prstGeom prst="rect">
            <a:avLst/>
          </a:prstGeom>
          <a:noFill/>
          <a:ln/>
        </p:spPr>
        <p:txBody>
          <a:bodyPr wrap="square" lIns="0" tIns="0" rIns="0" bIns="0" rtlCol="0" anchor="ctr"/>
          <a:lstStyle/>
          <a:p>
            <a:pPr indent="0" marL="0">
              <a:buNone/>
            </a:pPr>
            <a:r>
              <a:rPr lang="en-US" sz="2200" b="1" dirty="0">
                <a:solidFill>
                  <a:srgbClr val="F6F1EA"/>
                </a:solidFill>
              </a:rPr>
              <a:t>Région</a:t>
            </a:r>
            <a:endParaRPr lang="en-US" sz="2200" dirty="0"/>
          </a:p>
        </p:txBody>
      </p:sp>
      <p:sp>
        <p:nvSpPr>
          <p:cNvPr id="16" name="Text 14"/>
          <p:cNvSpPr txBox="1"/>
          <p:nvPr/>
        </p:nvSpPr>
        <p:spPr>
          <a:xfrm>
            <a:off x="3566160" y="3200400"/>
            <a:ext cx="2148840" cy="1005840"/>
          </a:xfrm>
          <a:prstGeom prst="rect">
            <a:avLst/>
          </a:prstGeom>
          <a:noFill/>
          <a:ln/>
        </p:spPr>
        <p:txBody>
          <a:bodyPr wrap="square" lIns="0" tIns="0" rIns="0" bIns="0" rtlCol="0" anchor="t"/>
          <a:lstStyle/>
          <a:p>
            <a:pPr indent="0" marL="0">
              <a:buNone/>
            </a:pPr>
            <a:r>
              <a:rPr lang="en-US" sz="1250" dirty="0">
                <a:solidFill>
                  <a:srgbClr val="F6F1EA"/>
                </a:solidFill>
              </a:rPr>
              <a:t>Licence SaaS annuelle par centre + mise en place et formation des équipes.</a:t>
            </a:r>
            <a:endParaRPr lang="en-US" sz="1250" dirty="0"/>
          </a:p>
        </p:txBody>
      </p:sp>
      <p:sp>
        <p:nvSpPr>
          <p:cNvPr id="17" name="Shape 15"/>
          <p:cNvSpPr/>
          <p:nvPr/>
        </p:nvSpPr>
        <p:spPr>
          <a:xfrm>
            <a:off x="5989320" y="3154680"/>
            <a:ext cx="146304" cy="274320"/>
          </a:xfrm>
          <a:prstGeom prst="rtTriangle">
            <a:avLst/>
          </a:prstGeom>
          <a:solidFill>
            <a:srgbClr val="E8A33D"/>
          </a:solidFill>
          <a:ln w="12700">
            <a:solidFill>
              <a:srgbClr val="E8A33D"/>
            </a:solidFill>
            <a:prstDash val="solid"/>
          </a:ln>
        </p:spPr>
      </p:sp>
      <p:sp>
        <p:nvSpPr>
          <p:cNvPr id="18" name="Shape 16"/>
          <p:cNvSpPr/>
          <p:nvPr/>
        </p:nvSpPr>
        <p:spPr>
          <a:xfrm>
            <a:off x="6217920" y="2286000"/>
            <a:ext cx="2514600" cy="2011680"/>
          </a:xfrm>
          <a:prstGeom prst="roundRect">
            <a:avLst>
              <a:gd name="adj" fmla="val 4545"/>
            </a:avLst>
          </a:prstGeom>
          <a:solidFill>
            <a:srgbClr val="18263C"/>
          </a:solidFill>
          <a:ln w="9525">
            <a:solidFill>
              <a:srgbClr val="2E4262"/>
            </a:solidFill>
            <a:prstDash val="solid"/>
          </a:ln>
        </p:spPr>
      </p:sp>
      <p:sp>
        <p:nvSpPr>
          <p:cNvPr id="19" name="Text 17"/>
          <p:cNvSpPr txBox="1"/>
          <p:nvPr/>
        </p:nvSpPr>
        <p:spPr>
          <a:xfrm>
            <a:off x="6400800" y="2450592"/>
            <a:ext cx="2148840" cy="256032"/>
          </a:xfrm>
          <a:prstGeom prst="rect">
            <a:avLst/>
          </a:prstGeom>
          <a:noFill/>
          <a:ln/>
        </p:spPr>
        <p:txBody>
          <a:bodyPr wrap="square" lIns="0" tIns="0" rIns="0" bIns="0" rtlCol="0" anchor="ctr"/>
          <a:lstStyle/>
          <a:p>
            <a:pPr indent="0" marL="0">
              <a:buNone/>
            </a:pPr>
            <a:r>
              <a:rPr lang="en-US" sz="1100" b="1" spc="200" kern="0" dirty="0">
                <a:solidFill>
                  <a:srgbClr val="E8A33D"/>
                </a:solidFill>
              </a:rPr>
              <a:t>12–24 MOIS</a:t>
            </a:r>
            <a:endParaRPr lang="en-US" sz="1100" dirty="0"/>
          </a:p>
        </p:txBody>
      </p:sp>
      <p:sp>
        <p:nvSpPr>
          <p:cNvPr id="20" name="Text 18"/>
          <p:cNvSpPr txBox="1"/>
          <p:nvPr/>
        </p:nvSpPr>
        <p:spPr>
          <a:xfrm>
            <a:off x="6400800" y="2743200"/>
            <a:ext cx="2148840" cy="411480"/>
          </a:xfrm>
          <a:prstGeom prst="rect">
            <a:avLst/>
          </a:prstGeom>
          <a:noFill/>
          <a:ln/>
        </p:spPr>
        <p:txBody>
          <a:bodyPr wrap="square" lIns="0" tIns="0" rIns="0" bIns="0" rtlCol="0" anchor="ctr"/>
          <a:lstStyle/>
          <a:p>
            <a:pPr indent="0" marL="0">
              <a:buNone/>
            </a:pPr>
            <a:r>
              <a:rPr lang="en-US" sz="2200" b="1" dirty="0">
                <a:solidFill>
                  <a:srgbClr val="F6F1EA"/>
                </a:solidFill>
              </a:rPr>
              <a:t>Québec → Canada</a:t>
            </a:r>
            <a:endParaRPr lang="en-US" sz="2200" dirty="0"/>
          </a:p>
        </p:txBody>
      </p:sp>
      <p:sp>
        <p:nvSpPr>
          <p:cNvPr id="21" name="Text 19"/>
          <p:cNvSpPr txBox="1"/>
          <p:nvPr/>
        </p:nvSpPr>
        <p:spPr>
          <a:xfrm>
            <a:off x="6400800" y="3200400"/>
            <a:ext cx="2148840" cy="1005840"/>
          </a:xfrm>
          <a:prstGeom prst="rect">
            <a:avLst/>
          </a:prstGeom>
          <a:noFill/>
          <a:ln/>
        </p:spPr>
        <p:txBody>
          <a:bodyPr wrap="square" lIns="0" tIns="0" rIns="0" bIns="0" rtlCol="0" anchor="t"/>
          <a:lstStyle/>
          <a:p>
            <a:pPr indent="0" marL="0">
              <a:buNone/>
            </a:pPr>
            <a:r>
              <a:rPr lang="en-US" sz="1250" dirty="0">
                <a:solidFill>
                  <a:srgbClr val="F6F1EA"/>
                </a:solidFill>
              </a:rPr>
              <a:t>Appels d'offres régionaux, puis un module de règles par province.</a:t>
            </a:r>
            <a:endParaRPr lang="en-US" sz="1250" dirty="0"/>
          </a:p>
        </p:txBody>
      </p:sp>
      <p:sp>
        <p:nvSpPr>
          <p:cNvPr id="22" name="Text 20"/>
          <p:cNvSpPr txBox="1"/>
          <p:nvPr/>
        </p:nvSpPr>
        <p:spPr>
          <a:xfrm>
            <a:off x="548640" y="4526280"/>
            <a:ext cx="1371600" cy="292608"/>
          </a:xfrm>
          <a:prstGeom prst="rect">
            <a:avLst/>
          </a:prstGeom>
          <a:noFill/>
          <a:ln/>
        </p:spPr>
        <p:txBody>
          <a:bodyPr wrap="square" lIns="0" tIns="0" rIns="0" bIns="0" rtlCol="0" anchor="ctr"/>
          <a:lstStyle/>
          <a:p>
            <a:pPr indent="0" marL="0">
              <a:buNone/>
            </a:pPr>
            <a:r>
              <a:rPr lang="en-US" sz="1300" b="1" dirty="0">
                <a:solidFill>
                  <a:srgbClr val="E8A33D"/>
                </a:solidFill>
              </a:rPr>
              <a:t>Paie</a:t>
            </a:r>
            <a:endParaRPr lang="en-US" sz="1300" dirty="0"/>
          </a:p>
        </p:txBody>
      </p:sp>
      <p:sp>
        <p:nvSpPr>
          <p:cNvPr id="23" name="Text 21"/>
          <p:cNvSpPr txBox="1"/>
          <p:nvPr/>
        </p:nvSpPr>
        <p:spPr>
          <a:xfrm>
            <a:off x="1920240" y="4526280"/>
            <a:ext cx="6583680" cy="292608"/>
          </a:xfrm>
          <a:prstGeom prst="rect">
            <a:avLst/>
          </a:prstGeom>
          <a:noFill/>
          <a:ln/>
        </p:spPr>
        <p:txBody>
          <a:bodyPr wrap="square" lIns="0" tIns="0" rIns="0" bIns="0" rtlCol="0" anchor="ctr"/>
          <a:lstStyle/>
          <a:p>
            <a:pPr indent="0" marL="0">
              <a:buNone/>
            </a:pPr>
            <a:r>
              <a:rPr lang="en-US" sz="1300" dirty="0">
                <a:solidFill>
                  <a:srgbClr val="F6F1EA"/>
                </a:solidFill>
              </a:rPr>
              <a:t>CISSS / CIUSSS · cofinancement fonds d'aide aux victimes</a:t>
            </a:r>
            <a:endParaRPr lang="en-US" sz="1300" dirty="0"/>
          </a:p>
        </p:txBody>
      </p:sp>
      <p:sp>
        <p:nvSpPr>
          <p:cNvPr id="24" name="Text 22"/>
          <p:cNvSpPr txBox="1"/>
          <p:nvPr/>
        </p:nvSpPr>
        <p:spPr>
          <a:xfrm>
            <a:off x="548640" y="4855464"/>
            <a:ext cx="1371600" cy="292608"/>
          </a:xfrm>
          <a:prstGeom prst="rect">
            <a:avLst/>
          </a:prstGeom>
          <a:noFill/>
          <a:ln/>
        </p:spPr>
        <p:txBody>
          <a:bodyPr wrap="square" lIns="0" tIns="0" rIns="0" bIns="0" rtlCol="0" anchor="ctr"/>
          <a:lstStyle/>
          <a:p>
            <a:pPr indent="0" marL="0">
              <a:buNone/>
            </a:pPr>
            <a:r>
              <a:rPr lang="en-US" sz="1300" b="1" dirty="0">
                <a:solidFill>
                  <a:srgbClr val="E8A33D"/>
                </a:solidFill>
              </a:rPr>
              <a:t>Utilise</a:t>
            </a:r>
            <a:endParaRPr lang="en-US" sz="1300" dirty="0"/>
          </a:p>
        </p:txBody>
      </p:sp>
      <p:sp>
        <p:nvSpPr>
          <p:cNvPr id="25" name="Text 23"/>
          <p:cNvSpPr txBox="1"/>
          <p:nvPr/>
        </p:nvSpPr>
        <p:spPr>
          <a:xfrm>
            <a:off x="1920240" y="4855464"/>
            <a:ext cx="6583680" cy="292608"/>
          </a:xfrm>
          <a:prstGeom prst="rect">
            <a:avLst/>
          </a:prstGeom>
          <a:noFill/>
          <a:ln/>
        </p:spPr>
        <p:txBody>
          <a:bodyPr wrap="square" lIns="0" tIns="0" rIns="0" bIns="0" rtlCol="0" anchor="ctr"/>
          <a:lstStyle/>
          <a:p>
            <a:pPr indent="0" marL="0">
              <a:buNone/>
            </a:pPr>
            <a:r>
              <a:rPr lang="en-US" sz="1300" dirty="0">
                <a:solidFill>
                  <a:srgbClr val="F6F1EA"/>
                </a:solidFill>
              </a:rPr>
              <a:t>Infirmières, médecins, intervenantes</a:t>
            </a:r>
            <a:endParaRPr lang="en-US" sz="1300" dirty="0"/>
          </a:p>
        </p:txBody>
      </p:sp>
      <p:sp>
        <p:nvSpPr>
          <p:cNvPr id="26" name="Text 24"/>
          <p:cNvSpPr txBox="1"/>
          <p:nvPr/>
        </p:nvSpPr>
        <p:spPr>
          <a:xfrm>
            <a:off x="548640" y="5184648"/>
            <a:ext cx="1371600" cy="292608"/>
          </a:xfrm>
          <a:prstGeom prst="rect">
            <a:avLst/>
          </a:prstGeom>
          <a:noFill/>
          <a:ln/>
        </p:spPr>
        <p:txBody>
          <a:bodyPr wrap="square" lIns="0" tIns="0" rIns="0" bIns="0" rtlCol="0" anchor="ctr"/>
          <a:lstStyle/>
          <a:p>
            <a:pPr indent="0" marL="0">
              <a:buNone/>
            </a:pPr>
            <a:r>
              <a:rPr lang="en-US" sz="1300" b="1" dirty="0">
                <a:solidFill>
                  <a:srgbClr val="E8A33D"/>
                </a:solidFill>
              </a:rPr>
              <a:t>Reçoit</a:t>
            </a:r>
            <a:endParaRPr lang="en-US" sz="1300" dirty="0"/>
          </a:p>
        </p:txBody>
      </p:sp>
      <p:sp>
        <p:nvSpPr>
          <p:cNvPr id="27" name="Text 25"/>
          <p:cNvSpPr txBox="1"/>
          <p:nvPr/>
        </p:nvSpPr>
        <p:spPr>
          <a:xfrm>
            <a:off x="1920240" y="5184648"/>
            <a:ext cx="6583680" cy="292608"/>
          </a:xfrm>
          <a:prstGeom prst="rect">
            <a:avLst/>
          </a:prstGeom>
          <a:noFill/>
          <a:ln/>
        </p:spPr>
        <p:txBody>
          <a:bodyPr wrap="square" lIns="0" tIns="0" rIns="0" bIns="0" rtlCol="0" anchor="ctr"/>
          <a:lstStyle/>
          <a:p>
            <a:pPr indent="0" marL="0">
              <a:buNone/>
            </a:pPr>
            <a:r>
              <a:rPr lang="en-US" sz="1300" dirty="0">
                <a:solidFill>
                  <a:srgbClr val="F6F1EA"/>
                </a:solidFill>
              </a:rPr>
              <a:t>Police et DPCP : le dossier, avec accord, sans l'acheter</a:t>
            </a:r>
            <a:endParaRPr lang="en-US" sz="1300" dirty="0"/>
          </a:p>
        </p:txBody>
      </p:sp>
      <p:sp>
        <p:nvSpPr>
          <p:cNvPr id="28" name="Text 26"/>
          <p:cNvSpPr txBox="1"/>
          <p:nvPr/>
        </p:nvSpPr>
        <p:spPr>
          <a:xfrm>
            <a:off x="548640" y="5513832"/>
            <a:ext cx="1371600" cy="292608"/>
          </a:xfrm>
          <a:prstGeom prst="rect">
            <a:avLst/>
          </a:prstGeom>
          <a:noFill/>
          <a:ln/>
        </p:spPr>
        <p:txBody>
          <a:bodyPr wrap="square" lIns="0" tIns="0" rIns="0" bIns="0" rtlCol="0" anchor="ctr"/>
          <a:lstStyle/>
          <a:p>
            <a:pPr indent="0" marL="0">
              <a:buNone/>
            </a:pPr>
            <a:r>
              <a:rPr lang="en-US" sz="1300" b="1" dirty="0">
                <a:solidFill>
                  <a:srgbClr val="E8A33D"/>
                </a:solidFill>
              </a:rPr>
              <a:t>Concurrence</a:t>
            </a:r>
            <a:endParaRPr lang="en-US" sz="1300" dirty="0"/>
          </a:p>
        </p:txBody>
      </p:sp>
      <p:sp>
        <p:nvSpPr>
          <p:cNvPr id="29" name="Text 27"/>
          <p:cNvSpPr txBox="1"/>
          <p:nvPr/>
        </p:nvSpPr>
        <p:spPr>
          <a:xfrm>
            <a:off x="1920240" y="5513832"/>
            <a:ext cx="6583680" cy="292608"/>
          </a:xfrm>
          <a:prstGeom prst="rect">
            <a:avLst/>
          </a:prstGeom>
          <a:noFill/>
          <a:ln/>
        </p:spPr>
        <p:txBody>
          <a:bodyPr wrap="square" lIns="0" tIns="0" rIns="0" bIns="0" rtlCol="0" anchor="ctr"/>
          <a:lstStyle/>
          <a:p>
            <a:pPr indent="0" marL="0">
              <a:buNone/>
            </a:pPr>
            <a:r>
              <a:rPr lang="en-US" sz="1300" dirty="0">
                <a:solidFill>
                  <a:srgbClr val="F6F1EA"/>
                </a:solidFill>
              </a:rPr>
              <a:t>Track-Kit (7 États US) suit la boîte. Nous, la personne.</a:t>
            </a:r>
            <a:endParaRPr lang="en-US" sz="1300" dirty="0"/>
          </a:p>
        </p:txBody>
      </p:sp>
      <p:sp>
        <p:nvSpPr>
          <p:cNvPr id="30" name="Shape 28"/>
          <p:cNvSpPr/>
          <p:nvPr/>
        </p:nvSpPr>
        <p:spPr>
          <a:xfrm>
            <a:off x="9098280" y="2286000"/>
            <a:ext cx="2560320" cy="3429000"/>
          </a:xfrm>
          <a:prstGeom prst="roundRect">
            <a:avLst>
              <a:gd name="adj" fmla="val 4286"/>
            </a:avLst>
          </a:prstGeom>
          <a:solidFill>
            <a:srgbClr val="F6F1EA"/>
          </a:solidFill>
          <a:ln w="12700">
            <a:solidFill>
              <a:srgbClr val="F6F1EA"/>
            </a:solidFill>
            <a:prstDash val="solid"/>
          </a:ln>
        </p:spPr>
      </p:sp>
      <p:pic>
        <p:nvPicPr>
          <p:cNvPr id="31" name="Image 0" descr="/home/user/hackathon-codeML-SAA/docs/assets/qr-boussole.png">    </p:cNvPr>
          <p:cNvPicPr>
            <a:picLocks noChangeAspect="1"/>
          </p:cNvPicPr>
          <p:nvPr/>
        </p:nvPicPr>
        <p:blipFill>
          <a:blip r:embed="rId1"/>
          <a:stretch>
            <a:fillRect/>
          </a:stretch>
        </p:blipFill>
        <p:spPr>
          <a:xfrm>
            <a:off x="9281160" y="2423160"/>
            <a:ext cx="2194560" cy="2194560"/>
          </a:xfrm>
          <a:prstGeom prst="rect">
            <a:avLst/>
          </a:prstGeom>
        </p:spPr>
      </p:pic>
      <p:sp>
        <p:nvSpPr>
          <p:cNvPr id="32" name="Text 29"/>
          <p:cNvSpPr txBox="1"/>
          <p:nvPr/>
        </p:nvSpPr>
        <p:spPr>
          <a:xfrm>
            <a:off x="9098280" y="4681728"/>
            <a:ext cx="2560320" cy="292608"/>
          </a:xfrm>
          <a:prstGeom prst="rect">
            <a:avLst/>
          </a:prstGeom>
          <a:noFill/>
          <a:ln/>
        </p:spPr>
        <p:txBody>
          <a:bodyPr wrap="square" lIns="0" tIns="0" rIns="0" bIns="0" rtlCol="0" anchor="ctr"/>
          <a:lstStyle/>
          <a:p>
            <a:pPr algn="ctr" indent="0" marL="0">
              <a:buNone/>
            </a:pPr>
            <a:r>
              <a:rPr lang="en-US" sz="1500" b="1" dirty="0">
                <a:solidFill>
                  <a:srgbClr val="0F1B2D"/>
                </a:solidFill>
              </a:rPr>
              <a:t>Essayez le prototype</a:t>
            </a:r>
            <a:endParaRPr lang="en-US" sz="1500" dirty="0"/>
          </a:p>
        </p:txBody>
      </p:sp>
      <p:sp>
        <p:nvSpPr>
          <p:cNvPr id="33" name="Text 30"/>
          <p:cNvSpPr txBox="1"/>
          <p:nvPr/>
        </p:nvSpPr>
        <p:spPr>
          <a:xfrm>
            <a:off x="9189720" y="4983480"/>
            <a:ext cx="2377440" cy="457200"/>
          </a:xfrm>
          <a:prstGeom prst="rect">
            <a:avLst/>
          </a:prstGeom>
          <a:noFill/>
          <a:ln/>
        </p:spPr>
        <p:txBody>
          <a:bodyPr wrap="square" lIns="0" tIns="0" rIns="0" bIns="0" rtlCol="0" anchor="t"/>
          <a:lstStyle/>
          <a:p>
            <a:pPr algn="ctr" indent="0" marL="0">
              <a:buNone/>
            </a:pPr>
            <a:r>
              <a:rPr lang="en-US" sz="900" dirty="0">
                <a:solidFill>
                  <a:srgbClr val="0F1B2D"/>
                </a:solidFill>
              </a:rPr>
              <a:t>sam-halimi.github.io/hackathon-codeML-SAA</a:t>
            </a:r>
            <a:endParaRPr lang="en-US" sz="900" dirty="0"/>
          </a:p>
        </p:txBody>
      </p:sp>
      <p:sp>
        <p:nvSpPr>
          <p:cNvPr id="34" name="Text 3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2000" dirty="0">
                <a:solidFill>
                  <a:srgbClr val="F6F1EA"/>
                </a:solidFill>
              </a:rPr>
              <a:t>On cherche : </a:t>
            </a:r>
            <a:pPr indent="0" marL="0">
              <a:buNone/>
            </a:pPr>
            <a:r>
              <a:rPr lang="en-US" sz="2000" b="1" dirty="0">
                <a:solidFill>
                  <a:srgbClr val="E8A33D"/>
                </a:solidFill>
              </a:rPr>
              <a:t>1 centre désigné pour un pilote de 3 mois</a:t>
            </a:r>
            <a:endParaRPr lang="en-US" sz="2000" dirty="0"/>
          </a:p>
        </p:txBody>
      </p:sp>
      <p:sp>
        <p:nvSpPr>
          <p:cNvPr id="35" name="Text 32"/>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300" i="1" dirty="0">
                <a:solidFill>
                  <a:srgbClr val="9AA6B8"/>
                </a:solidFill>
              </a:rPr>
              <a:t>« On ne remplace pas l'humain auprès de Léa. On lui rend le temps de l'être.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Boussole — pitch</dc:title>
  <dc:subject>PptxGenJS Presentation</dc:subject>
  <dc:creator>PptxGenJS</dc:creator>
  <cp:lastModifiedBy>PptxGenJS</cp:lastModifiedBy>
  <cp:revision>1</cp:revision>
  <dcterms:created xsi:type="dcterms:W3CDTF">2026-10-03T18:44:08Z</dcterms:created>
  <dcterms:modified xsi:type="dcterms:W3CDTF">2026-10-03T18:44:08Z</dcterms:modified>
</cp:coreProperties>
</file>