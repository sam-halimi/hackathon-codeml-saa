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1 (0:00–0:50) · Le problème
Octobre 2024, université Cornell. Une étudiante dit avoir été droguée puis violée par sept étudiants. Selon sa poursuite, certains ont pu « atténuer leur sanction » en écrivant des dissertations. L’université conteste. Il a fallu une poursuite civile, ce mois-ci, pour que le procureur rouvre l’enquête. [PAUSE]
Ce n’est pas qu’aux États-Unis. Au Canada, seulement 6 % des agressions sexuelles sont signalées à la police. Sur mille plaintes, 640 n’aboutissent à aucune accusation. Et près d’une cause sur trois dépasse les délais Jordan.
Pourtant, au Québec, le système d’aide existe, il est public et gratuit : centres désignés, Info-aide, CAVAC, Rebâtir, IVAC. Le problème, c’est que les victimes s’y perdent, seules, au pire moment, et que le dossier se construit trop tard.
(Faits allégués : toujours dire « dit avoir été », « selon la poursuite ». Ne nommer personne.)
PERSONNE 2 (0:50–1:05) · Nous
[SEULEMENT SI VRAI : une phrase personnelle.] On a voulu construire l’outil qu’on aimerait voir dans les mains de quelqu’un qu’on aime.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3 (1:05–2:05) · La solution
Voici Boussole. On arrive sur une page douce, qui dit simplement : vous êtes au bon endroit. On crée son compte en trente secondes : prénom, courriel, mot de passe, et tout est chiffré sur l’appareil.
Tout de suite, Boussole montre les étapes, dans le bon ordre : se mettre en sécurité, appeler Info-aide 24 h/24, aller vers les soins, choisir ou non la trousse, être soutenue, connaître ses droits.
La personne raconte son histoire une seule fois, à son rythme. Une carte de Montréal lui montre où aller : les examens médicaux au plus tôt, pour garder toutes les options ouvertes, et le soutien psychologique près de chez elle.
Et quand elle est prête, Boussole assemble son dossier et l’envoie à un service juridique spécialisé. Elle choisit un créneau, aujourd’hui ou demain, et une avocate ou un avocat la rappelle.
Rien ne part sans son accord. Pas de score de crédibilité, pas de coupable désigné : on guide, elle décide.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1 (2:05–2:40) · L’éthique et le financement
Notre règle : la victime ne paie jamais. Elle ne doit pas risquer son argent sur un dossier qui, tristement, finit souvent sans suite : sur mille plaintes, 640 n’aboutissent à aucune accusation. Son droit à se défendre ne doit pas dépendre de ses moyens.
Donc c’est l’État qui finance, comme il finance déjà les centres désignés, Rebâtir ou l’IVAC. Boussole ne remplace aucun de ces services : il les relie en un seul parcours, simple, au bon moment. Pas de publicité, pas de revente de données.
PERSONNE 2 (2:40–3:00) · La demande
Ce qu’on demande : un pilote de trois mois, financé par l’État, avec un centre désigné de Montréal. La bêta est en ligne : scannez le code. [PAUSE]
On ne remplace pas l’humain auprès de la victime. On lui rend le temps de l’être.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440"/>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6A4CE0"/>
          </a:solidFill>
          <a:ln w="12700">
            <a:solidFill>
              <a:srgbClr val="6A4CE0"/>
            </a:solidFill>
            <a:prstDash val="solid"/>
          </a:ln>
        </p:spPr>
      </p:sp>
      <p:sp>
        <p:nvSpPr>
          <p:cNvPr id="3" name="Shape 1"/>
          <p:cNvSpPr/>
          <p:nvPr/>
        </p:nvSpPr>
        <p:spPr>
          <a:xfrm>
            <a:off x="672084" y="429768"/>
            <a:ext cx="137160" cy="292608"/>
          </a:xfrm>
          <a:prstGeom prst="diamond">
            <a:avLst/>
          </a:prstGeom>
          <a:solidFill>
            <a:srgbClr val="FFF9F3"/>
          </a:solidFill>
          <a:ln w="12700">
            <a:solidFill>
              <a:srgbClr val="FFF9F3"/>
            </a:solidFill>
            <a:prstDash val="solid"/>
          </a:ln>
        </p:spPr>
      </p:sp>
      <p:sp>
        <p:nvSpPr>
          <p:cNvPr id="4" name="Shape 2"/>
          <p:cNvSpPr/>
          <p:nvPr/>
        </p:nvSpPr>
        <p:spPr>
          <a:xfrm>
            <a:off x="672084" y="429768"/>
            <a:ext cx="137160" cy="146304"/>
          </a:xfrm>
          <a:prstGeom prst="triangle">
            <a:avLst/>
          </a:prstGeom>
          <a:solidFill>
            <a:srgbClr val="FF8A65"/>
          </a:solidFill>
          <a:ln w="12700">
            <a:solidFill>
              <a:srgbClr val="FF8A65"/>
            </a:solidFill>
            <a:prstDash val="solid"/>
          </a:ln>
        </p:spPr>
      </p:sp>
      <p:sp>
        <p:nvSpPr>
          <p:cNvPr id="5" name="Text 3"/>
          <p:cNvSpPr txBox="1"/>
          <p:nvPr/>
        </p:nvSpPr>
        <p:spPr>
          <a:xfrm>
            <a:off x="1024128" y="384048"/>
            <a:ext cx="2743200" cy="384048"/>
          </a:xfrm>
          <a:prstGeom prst="rect">
            <a:avLst/>
          </a:prstGeom>
          <a:noFill/>
          <a:ln/>
        </p:spPr>
        <p:txBody>
          <a:bodyPr wrap="square" lIns="0" tIns="0" rIns="0" bIns="0" rtlCol="0" anchor="ctr"/>
          <a:lstStyle/>
          <a:p>
            <a:pPr indent="0" marL="0">
              <a:buNone/>
            </a:pPr>
            <a:r>
              <a:rPr lang="en-US" sz="2000" b="1" dirty="0">
                <a:solidFill>
                  <a:srgbClr val="FFF9F3"/>
                </a:solidFill>
                <a:latin typeface="Calibri" pitchFamily="34" charset="0"/>
                <a:ea typeface="Calibri" pitchFamily="34" charset="-122"/>
                <a:cs typeface="Calibri" pitchFamily="34" charset="-120"/>
              </a:rPr>
              <a:t>Boussole</a:t>
            </a:r>
            <a:endParaRPr lang="en-US" sz="2000" dirty="0"/>
          </a:p>
        </p:txBody>
      </p:sp>
      <p:sp>
        <p:nvSpPr>
          <p:cNvPr id="6" name="Text 4"/>
          <p:cNvSpPr txBox="1"/>
          <p:nvPr/>
        </p:nvSpPr>
        <p:spPr>
          <a:xfrm>
            <a:off x="7498080" y="420624"/>
            <a:ext cx="4160520" cy="310896"/>
          </a:xfrm>
          <a:prstGeom prst="rect">
            <a:avLst/>
          </a:prstGeom>
          <a:noFill/>
          <a:ln/>
        </p:spPr>
        <p:txBody>
          <a:bodyPr wrap="square" lIns="0" tIns="0" rIns="0" bIns="0" rtlCol="0" anchor="ctr"/>
          <a:lstStyle/>
          <a:p>
            <a:pPr algn="r" indent="0" marL="0">
              <a:buNone/>
            </a:pPr>
            <a:r>
              <a:rPr lang="en-US" sz="1300" b="1" dirty="0">
                <a:solidFill>
                  <a:srgbClr val="FF8A65"/>
                </a:solidFill>
                <a:latin typeface="Calibri" pitchFamily="34" charset="0"/>
                <a:ea typeface="Calibri" pitchFamily="34" charset="-122"/>
                <a:cs typeface="Calibri" pitchFamily="34" charset="-120"/>
              </a:rPr>
              <a:t>01 · LE PROBLÈME</a:t>
            </a:r>
            <a:endParaRPr lang="en-US" sz="1300" dirty="0"/>
          </a:p>
        </p:txBody>
      </p:sp>
      <p:sp>
        <p:nvSpPr>
          <p:cNvPr id="7" name="Text 5"/>
          <p:cNvSpPr txBox="1"/>
          <p:nvPr/>
        </p:nvSpPr>
        <p:spPr>
          <a:xfrm>
            <a:off x="548640" y="960120"/>
            <a:ext cx="11064240" cy="777240"/>
          </a:xfrm>
          <a:prstGeom prst="rect">
            <a:avLst/>
          </a:prstGeom>
          <a:noFill/>
          <a:ln/>
        </p:spPr>
        <p:txBody>
          <a:bodyPr wrap="square" lIns="0" tIns="0" rIns="0" bIns="0" rtlCol="0" anchor="ctr"/>
          <a:lstStyle/>
          <a:p>
            <a:pPr indent="0" marL="0">
              <a:buNone/>
            </a:pPr>
            <a:r>
              <a:rPr lang="en-US" sz="4000" b="1" dirty="0">
                <a:solidFill>
                  <a:srgbClr val="FFF9F3"/>
                </a:solidFill>
                <a:latin typeface="Calibri" pitchFamily="34" charset="0"/>
                <a:ea typeface="Calibri" pitchFamily="34" charset="-122"/>
                <a:cs typeface="Calibri" pitchFamily="34" charset="-120"/>
              </a:rPr>
              <a:t>Sept étudiants. </a:t>
            </a:r>
            <a:pPr indent="0" marL="0">
              <a:buNone/>
            </a:pPr>
            <a:r>
              <a:rPr lang="en-US" sz="4000" b="1" dirty="0">
                <a:solidFill>
                  <a:srgbClr val="FF8A65"/>
                </a:solidFill>
                <a:latin typeface="Calibri" pitchFamily="34" charset="0"/>
                <a:ea typeface="Calibri" pitchFamily="34" charset="-122"/>
                <a:cs typeface="Calibri" pitchFamily="34" charset="-120"/>
              </a:rPr>
              <a:t>Des dissertations.</a:t>
            </a:r>
            <a:endParaRPr lang="en-US" sz="4000" dirty="0"/>
          </a:p>
        </p:txBody>
      </p:sp>
      <p:sp>
        <p:nvSpPr>
          <p:cNvPr id="8" name="Text 6"/>
          <p:cNvSpPr txBox="1"/>
          <p:nvPr/>
        </p:nvSpPr>
        <p:spPr>
          <a:xfrm>
            <a:off x="548640" y="1737360"/>
            <a:ext cx="11064240" cy="411480"/>
          </a:xfrm>
          <a:prstGeom prst="rect">
            <a:avLst/>
          </a:prstGeom>
          <a:noFill/>
          <a:ln/>
        </p:spPr>
        <p:txBody>
          <a:bodyPr wrap="square" lIns="0" tIns="0" rIns="0" bIns="0" rtlCol="0" anchor="ctr"/>
          <a:lstStyle/>
          <a:p>
            <a:pPr indent="0" marL="0">
              <a:buNone/>
            </a:pPr>
            <a:r>
              <a:rPr lang="en-US" sz="1700" dirty="0">
                <a:solidFill>
                  <a:srgbClr val="C9C2D6"/>
                </a:solidFill>
                <a:latin typeface="Calibri" pitchFamily="34" charset="0"/>
                <a:ea typeface="Calibri" pitchFamily="34" charset="-122"/>
                <a:cs typeface="Calibri" pitchFamily="34" charset="-120"/>
              </a:rPr>
              <a:t>Le système d’aide existe, il est public et gratuit. Mais les victimes s’y perdent, et les dossiers se construisent trop tard.</a:t>
            </a:r>
            <a:endParaRPr lang="en-US" sz="1700" dirty="0"/>
          </a:p>
        </p:txBody>
      </p:sp>
      <p:sp>
        <p:nvSpPr>
          <p:cNvPr id="9" name="Shape 7"/>
          <p:cNvSpPr/>
          <p:nvPr/>
        </p:nvSpPr>
        <p:spPr>
          <a:xfrm>
            <a:off x="548640" y="2423160"/>
            <a:ext cx="6309360" cy="3794760"/>
          </a:xfrm>
          <a:prstGeom prst="roundRect">
            <a:avLst>
              <a:gd name="adj" fmla="val 5301"/>
            </a:avLst>
          </a:prstGeom>
          <a:solidFill>
            <a:srgbClr val="FFFFFF"/>
          </a:solidFill>
          <a:ln w="12700">
            <a:solidFill>
              <a:srgbClr val="FFFFFF"/>
            </a:solidFill>
            <a:prstDash val="solid"/>
          </a:ln>
        </p:spPr>
      </p:sp>
      <p:pic>
        <p:nvPicPr>
          <p:cNvPr id="10" name="Image 0" descr="/home/user/hackathon-codeML-SAA/boussole/pitch/assets/articles/cornell-ap.jpg">    </p:cNvPr>
          <p:cNvPicPr>
            <a:picLocks noChangeAspect="1"/>
          </p:cNvPicPr>
          <p:nvPr/>
        </p:nvPicPr>
        <p:blipFill>
          <a:blip r:embed="rId1"/>
          <a:srcRect l="0" r="0" t="0" b="0"/>
          <a:stretch/>
        </p:blipFill>
        <p:spPr>
          <a:xfrm>
            <a:off x="777240" y="2651760"/>
            <a:ext cx="5852160" cy="1874520"/>
          </a:xfrm>
          <a:prstGeom prst="rect">
            <a:avLst/>
          </a:prstGeom>
        </p:spPr>
      </p:pic>
      <p:sp>
        <p:nvSpPr>
          <p:cNvPr id="11" name="Text 8"/>
          <p:cNvSpPr txBox="1"/>
          <p:nvPr/>
        </p:nvSpPr>
        <p:spPr>
          <a:xfrm>
            <a:off x="822960" y="4663440"/>
            <a:ext cx="5760720" cy="228600"/>
          </a:xfrm>
          <a:prstGeom prst="rect">
            <a:avLst/>
          </a:prstGeom>
          <a:noFill/>
          <a:ln/>
        </p:spPr>
        <p:txBody>
          <a:bodyPr wrap="square" lIns="0" tIns="0" rIns="0" bIns="0" rtlCol="0" anchor="ctr"/>
          <a:lstStyle/>
          <a:p>
            <a:pPr indent="0" marL="0">
              <a:buNone/>
            </a:pPr>
            <a:r>
              <a:rPr lang="en-US" sz="1000" b="1" spc="100" kern="0" dirty="0">
                <a:solidFill>
                  <a:srgbClr val="FF8A65"/>
                </a:solidFill>
                <a:latin typeface="Calibri" pitchFamily="34" charset="0"/>
                <a:ea typeface="Calibri" pitchFamily="34" charset="-122"/>
                <a:cs typeface="Calibri" pitchFamily="34" charset="-120"/>
              </a:rPr>
              <a:t>CTV NEWS · THE ASSOCIATED PRESS · 28 SEPT. 2026</a:t>
            </a:r>
            <a:endParaRPr lang="en-US" sz="1000" dirty="0"/>
          </a:p>
        </p:txBody>
      </p:sp>
      <p:sp>
        <p:nvSpPr>
          <p:cNvPr id="12" name="Text 9"/>
          <p:cNvSpPr txBox="1"/>
          <p:nvPr/>
        </p:nvSpPr>
        <p:spPr>
          <a:xfrm>
            <a:off x="822960" y="4910328"/>
            <a:ext cx="5760720" cy="658368"/>
          </a:xfrm>
          <a:prstGeom prst="rect">
            <a:avLst/>
          </a:prstGeom>
          <a:noFill/>
          <a:ln/>
        </p:spPr>
        <p:txBody>
          <a:bodyPr wrap="square" lIns="0" tIns="0" rIns="0" bIns="0" rtlCol="0" anchor="t"/>
          <a:lstStyle/>
          <a:p>
            <a:pPr indent="0" marL="0">
              <a:buNone/>
            </a:pPr>
            <a:r>
              <a:rPr lang="en-US" sz="1450" b="1" dirty="0">
                <a:solidFill>
                  <a:srgbClr val="2D2440"/>
                </a:solidFill>
                <a:latin typeface="Calibri" pitchFamily="34" charset="0"/>
                <a:ea typeface="Calibri" pitchFamily="34" charset="-122"/>
                <a:cs typeface="Calibri" pitchFamily="34" charset="-120"/>
              </a:rPr>
              <a:t>New York prosecutors reopen investigation after student files lawsuit over alleged gang rape at Cornell University</a:t>
            </a:r>
            <a:endParaRPr lang="en-US" sz="1450" dirty="0"/>
          </a:p>
        </p:txBody>
      </p:sp>
      <p:sp>
        <p:nvSpPr>
          <p:cNvPr id="13" name="Text 10"/>
          <p:cNvSpPr txBox="1"/>
          <p:nvPr/>
        </p:nvSpPr>
        <p:spPr>
          <a:xfrm>
            <a:off x="822960" y="5623560"/>
            <a:ext cx="5760720" cy="548640"/>
          </a:xfrm>
          <a:prstGeom prst="rect">
            <a:avLst/>
          </a:prstGeom>
          <a:noFill/>
          <a:ln/>
        </p:spPr>
        <p:txBody>
          <a:bodyPr wrap="square" lIns="0" tIns="0" rIns="0" bIns="0" rtlCol="0" anchor="t"/>
          <a:lstStyle/>
          <a:p>
            <a:pPr indent="0" marL="0">
              <a:buNone/>
            </a:pPr>
            <a:r>
              <a:rPr lang="en-US" sz="1050" dirty="0">
                <a:solidFill>
                  <a:srgbClr val="5E5670"/>
                </a:solidFill>
                <a:latin typeface="Calibri" pitchFamily="34" charset="0"/>
                <a:ea typeface="Calibri" pitchFamily="34" charset="-122"/>
                <a:cs typeface="Calibri" pitchFamily="34" charset="-120"/>
              </a:rPr>
              <a:t>Selon la poursuite, sept étudiants ont été suspendus temporairement et ont pu « atténuer leur sanction » en rédigeant des dissertations. L’université conteste. Faits allégués, procédure en cours.</a:t>
            </a:r>
            <a:endParaRPr lang="en-US" sz="1050" dirty="0"/>
          </a:p>
        </p:txBody>
      </p:sp>
      <p:sp>
        <p:nvSpPr>
          <p:cNvPr id="14" name="Shape 11"/>
          <p:cNvSpPr/>
          <p:nvPr/>
        </p:nvSpPr>
        <p:spPr>
          <a:xfrm>
            <a:off x="7132320" y="2423160"/>
            <a:ext cx="4507992" cy="1161288"/>
          </a:xfrm>
          <a:prstGeom prst="roundRect">
            <a:avLst>
              <a:gd name="adj" fmla="val 17323"/>
            </a:avLst>
          </a:prstGeom>
          <a:solidFill>
            <a:srgbClr val="3A3052"/>
          </a:solidFill>
          <a:ln w="12700">
            <a:solidFill>
              <a:srgbClr val="3A3052"/>
            </a:solidFill>
            <a:prstDash val="solid"/>
          </a:ln>
        </p:spPr>
      </p:sp>
      <p:sp>
        <p:nvSpPr>
          <p:cNvPr id="15" name="Text 12"/>
          <p:cNvSpPr txBox="1"/>
          <p:nvPr/>
        </p:nvSpPr>
        <p:spPr>
          <a:xfrm>
            <a:off x="7360920" y="2496312"/>
            <a:ext cx="4114800" cy="475488"/>
          </a:xfrm>
          <a:prstGeom prst="rect">
            <a:avLst/>
          </a:prstGeom>
          <a:noFill/>
          <a:ln/>
        </p:spPr>
        <p:txBody>
          <a:bodyPr wrap="square" lIns="0" tIns="0" rIns="0" bIns="0" rtlCol="0" anchor="ctr"/>
          <a:lstStyle/>
          <a:p>
            <a:pPr indent="0" marL="0">
              <a:buNone/>
            </a:pPr>
            <a:r>
              <a:rPr lang="en-US" sz="2800" b="1" dirty="0">
                <a:solidFill>
                  <a:srgbClr val="FF8A65"/>
                </a:solidFill>
                <a:latin typeface="Calibri" pitchFamily="34" charset="0"/>
                <a:ea typeface="Calibri" pitchFamily="34" charset="-122"/>
                <a:cs typeface="Calibri" pitchFamily="34" charset="-120"/>
              </a:rPr>
              <a:t>6 %</a:t>
            </a:r>
            <a:endParaRPr lang="en-US" sz="2800" dirty="0"/>
          </a:p>
        </p:txBody>
      </p:sp>
      <p:sp>
        <p:nvSpPr>
          <p:cNvPr id="16" name="Text 13"/>
          <p:cNvSpPr txBox="1"/>
          <p:nvPr/>
        </p:nvSpPr>
        <p:spPr>
          <a:xfrm>
            <a:off x="7360920" y="2971800"/>
            <a:ext cx="4206240" cy="384048"/>
          </a:xfrm>
          <a:prstGeom prst="rect">
            <a:avLst/>
          </a:prstGeom>
          <a:noFill/>
          <a:ln/>
        </p:spPr>
        <p:txBody>
          <a:bodyPr wrap="square" lIns="0" tIns="0" rIns="0" bIns="0" rtlCol="0" anchor="t"/>
          <a:lstStyle/>
          <a:p>
            <a:pPr indent="0" marL="0">
              <a:buNone/>
            </a:pPr>
            <a:r>
              <a:rPr lang="en-US" sz="1100" dirty="0">
                <a:solidFill>
                  <a:srgbClr val="FFF9F3"/>
                </a:solidFill>
                <a:latin typeface="Calibri" pitchFamily="34" charset="0"/>
                <a:ea typeface="Calibri" pitchFamily="34" charset="-122"/>
                <a:cs typeface="Calibri" pitchFamily="34" charset="-120"/>
              </a:rPr>
              <a:t>des agressions sexuelles sont signalées à la police</a:t>
            </a:r>
            <a:endParaRPr lang="en-US" sz="1100" dirty="0"/>
          </a:p>
        </p:txBody>
      </p:sp>
      <p:sp>
        <p:nvSpPr>
          <p:cNvPr id="17" name="Text 14"/>
          <p:cNvSpPr txBox="1"/>
          <p:nvPr/>
        </p:nvSpPr>
        <p:spPr>
          <a:xfrm>
            <a:off x="7360920" y="3364992"/>
            <a:ext cx="4114800" cy="182880"/>
          </a:xfrm>
          <a:prstGeom prst="rect">
            <a:avLst/>
          </a:prstGeom>
          <a:noFill/>
          <a:ln/>
        </p:spPr>
        <p:txBody>
          <a:bodyPr wrap="square" lIns="0" tIns="0" rIns="0" bIns="0" rtlCol="0" anchor="ctr"/>
          <a:lstStyle/>
          <a:p>
            <a:pPr indent="0" marL="0">
              <a:buNone/>
            </a:pPr>
            <a:r>
              <a:rPr lang="en-US" sz="850" dirty="0">
                <a:solidFill>
                  <a:srgbClr val="948BA3"/>
                </a:solidFill>
                <a:latin typeface="Calibri" pitchFamily="34" charset="0"/>
                <a:ea typeface="Calibri" pitchFamily="34" charset="-122"/>
                <a:cs typeface="Calibri" pitchFamily="34" charset="-120"/>
              </a:rPr>
              <a:t>Statistique Canada, 2019</a:t>
            </a:r>
            <a:endParaRPr lang="en-US" sz="850" dirty="0"/>
          </a:p>
        </p:txBody>
      </p:sp>
      <p:sp>
        <p:nvSpPr>
          <p:cNvPr id="18" name="Shape 15"/>
          <p:cNvSpPr/>
          <p:nvPr/>
        </p:nvSpPr>
        <p:spPr>
          <a:xfrm>
            <a:off x="7132320" y="3730752"/>
            <a:ext cx="4507992" cy="1161288"/>
          </a:xfrm>
          <a:prstGeom prst="roundRect">
            <a:avLst>
              <a:gd name="adj" fmla="val 17323"/>
            </a:avLst>
          </a:prstGeom>
          <a:solidFill>
            <a:srgbClr val="3A3052"/>
          </a:solidFill>
          <a:ln w="12700">
            <a:solidFill>
              <a:srgbClr val="3A3052"/>
            </a:solidFill>
            <a:prstDash val="solid"/>
          </a:ln>
        </p:spPr>
      </p:sp>
      <p:sp>
        <p:nvSpPr>
          <p:cNvPr id="19" name="Text 16"/>
          <p:cNvSpPr txBox="1"/>
          <p:nvPr/>
        </p:nvSpPr>
        <p:spPr>
          <a:xfrm>
            <a:off x="7360920" y="3803904"/>
            <a:ext cx="4114800" cy="475488"/>
          </a:xfrm>
          <a:prstGeom prst="rect">
            <a:avLst/>
          </a:prstGeom>
          <a:noFill/>
          <a:ln/>
        </p:spPr>
        <p:txBody>
          <a:bodyPr wrap="square" lIns="0" tIns="0" rIns="0" bIns="0" rtlCol="0" anchor="ctr"/>
          <a:lstStyle/>
          <a:p>
            <a:pPr indent="0" marL="0">
              <a:buNone/>
            </a:pPr>
            <a:r>
              <a:rPr lang="en-US" sz="2800" b="1" dirty="0">
                <a:solidFill>
                  <a:srgbClr val="E9A23B"/>
                </a:solidFill>
                <a:latin typeface="Calibri" pitchFamily="34" charset="0"/>
                <a:ea typeface="Calibri" pitchFamily="34" charset="-122"/>
                <a:cs typeface="Calibri" pitchFamily="34" charset="-120"/>
              </a:rPr>
              <a:t>640 / 1 000</a:t>
            </a:r>
            <a:endParaRPr lang="en-US" sz="2800" dirty="0"/>
          </a:p>
        </p:txBody>
      </p:sp>
      <p:sp>
        <p:nvSpPr>
          <p:cNvPr id="20" name="Text 17"/>
          <p:cNvSpPr txBox="1"/>
          <p:nvPr/>
        </p:nvSpPr>
        <p:spPr>
          <a:xfrm>
            <a:off x="7360920" y="4279392"/>
            <a:ext cx="4206240" cy="384048"/>
          </a:xfrm>
          <a:prstGeom prst="rect">
            <a:avLst/>
          </a:prstGeom>
          <a:noFill/>
          <a:ln/>
        </p:spPr>
        <p:txBody>
          <a:bodyPr wrap="square" lIns="0" tIns="0" rIns="0" bIns="0" rtlCol="0" anchor="t"/>
          <a:lstStyle/>
          <a:p>
            <a:pPr indent="0" marL="0">
              <a:buNone/>
            </a:pPr>
            <a:r>
              <a:rPr lang="en-US" sz="1100" dirty="0">
                <a:solidFill>
                  <a:srgbClr val="FFF9F3"/>
                </a:solidFill>
                <a:latin typeface="Calibri" pitchFamily="34" charset="0"/>
                <a:ea typeface="Calibri" pitchFamily="34" charset="-122"/>
                <a:cs typeface="Calibri" pitchFamily="34" charset="-120"/>
              </a:rPr>
              <a:t>plaintes pour agression sexuelle n’aboutissent à aucune accusation</a:t>
            </a:r>
            <a:endParaRPr lang="en-US" sz="1100" dirty="0"/>
          </a:p>
        </p:txBody>
      </p:sp>
      <p:sp>
        <p:nvSpPr>
          <p:cNvPr id="21" name="Text 18"/>
          <p:cNvSpPr txBox="1"/>
          <p:nvPr/>
        </p:nvSpPr>
        <p:spPr>
          <a:xfrm>
            <a:off x="7360920" y="4672584"/>
            <a:ext cx="4114800" cy="182880"/>
          </a:xfrm>
          <a:prstGeom prst="rect">
            <a:avLst/>
          </a:prstGeom>
          <a:noFill/>
          <a:ln/>
        </p:spPr>
        <p:txBody>
          <a:bodyPr wrap="square" lIns="0" tIns="0" rIns="0" bIns="0" rtlCol="0" anchor="ctr"/>
          <a:lstStyle/>
          <a:p>
            <a:pPr indent="0" marL="0">
              <a:buNone/>
            </a:pPr>
            <a:r>
              <a:rPr lang="en-US" sz="850" dirty="0">
                <a:solidFill>
                  <a:srgbClr val="948BA3"/>
                </a:solidFill>
                <a:latin typeface="Calibri" pitchFamily="34" charset="0"/>
                <a:ea typeface="Calibri" pitchFamily="34" charset="-122"/>
                <a:cs typeface="Calibri" pitchFamily="34" charset="-120"/>
              </a:rPr>
              <a:t>Statistique Canada, 2015-2019</a:t>
            </a:r>
            <a:endParaRPr lang="en-US" sz="850" dirty="0"/>
          </a:p>
        </p:txBody>
      </p:sp>
      <p:sp>
        <p:nvSpPr>
          <p:cNvPr id="22" name="Shape 19"/>
          <p:cNvSpPr/>
          <p:nvPr/>
        </p:nvSpPr>
        <p:spPr>
          <a:xfrm>
            <a:off x="7132320" y="5038344"/>
            <a:ext cx="4507992" cy="1161288"/>
          </a:xfrm>
          <a:prstGeom prst="roundRect">
            <a:avLst>
              <a:gd name="adj" fmla="val 17323"/>
            </a:avLst>
          </a:prstGeom>
          <a:solidFill>
            <a:srgbClr val="3A3052"/>
          </a:solidFill>
          <a:ln w="12700">
            <a:solidFill>
              <a:srgbClr val="3A3052"/>
            </a:solidFill>
            <a:prstDash val="solid"/>
          </a:ln>
        </p:spPr>
      </p:sp>
      <p:sp>
        <p:nvSpPr>
          <p:cNvPr id="23" name="Text 20"/>
          <p:cNvSpPr txBox="1"/>
          <p:nvPr/>
        </p:nvSpPr>
        <p:spPr>
          <a:xfrm>
            <a:off x="7360920" y="5111496"/>
            <a:ext cx="4114800" cy="475488"/>
          </a:xfrm>
          <a:prstGeom prst="rect">
            <a:avLst/>
          </a:prstGeom>
          <a:noFill/>
          <a:ln/>
        </p:spPr>
        <p:txBody>
          <a:bodyPr wrap="square" lIns="0" tIns="0" rIns="0" bIns="0" rtlCol="0" anchor="ctr"/>
          <a:lstStyle/>
          <a:p>
            <a:pPr indent="0" marL="0">
              <a:buNone/>
            </a:pPr>
            <a:r>
              <a:rPr lang="en-US" sz="2800" b="1" dirty="0">
                <a:solidFill>
                  <a:srgbClr val="EEE8FF"/>
                </a:solidFill>
                <a:latin typeface="Calibri" pitchFamily="34" charset="0"/>
                <a:ea typeface="Calibri" pitchFamily="34" charset="-122"/>
                <a:cs typeface="Calibri" pitchFamily="34" charset="-120"/>
              </a:rPr>
              <a:t>1 sur 3</a:t>
            </a:r>
            <a:endParaRPr lang="en-US" sz="2800" dirty="0"/>
          </a:p>
        </p:txBody>
      </p:sp>
      <p:sp>
        <p:nvSpPr>
          <p:cNvPr id="24" name="Text 21"/>
          <p:cNvSpPr txBox="1"/>
          <p:nvPr/>
        </p:nvSpPr>
        <p:spPr>
          <a:xfrm>
            <a:off x="7360920" y="5586984"/>
            <a:ext cx="4206240" cy="384048"/>
          </a:xfrm>
          <a:prstGeom prst="rect">
            <a:avLst/>
          </a:prstGeom>
          <a:noFill/>
          <a:ln/>
        </p:spPr>
        <p:txBody>
          <a:bodyPr wrap="square" lIns="0" tIns="0" rIns="0" bIns="0" rtlCol="0" anchor="t"/>
          <a:lstStyle/>
          <a:p>
            <a:pPr indent="0" marL="0">
              <a:buNone/>
            </a:pPr>
            <a:r>
              <a:rPr lang="en-US" sz="1100" dirty="0">
                <a:solidFill>
                  <a:srgbClr val="FFF9F3"/>
                </a:solidFill>
                <a:latin typeface="Calibri" pitchFamily="34" charset="0"/>
                <a:ea typeface="Calibri" pitchFamily="34" charset="-122"/>
                <a:cs typeface="Calibri" pitchFamily="34" charset="-120"/>
              </a:rPr>
              <a:t>causes d’agression sexuelle dépasse les délais de l’arrêt Jordan</a:t>
            </a:r>
            <a:endParaRPr lang="en-US" sz="1100" dirty="0"/>
          </a:p>
        </p:txBody>
      </p:sp>
      <p:sp>
        <p:nvSpPr>
          <p:cNvPr id="25" name="Text 22"/>
          <p:cNvSpPr txBox="1"/>
          <p:nvPr/>
        </p:nvSpPr>
        <p:spPr>
          <a:xfrm>
            <a:off x="7360920" y="5980176"/>
            <a:ext cx="4114800" cy="182880"/>
          </a:xfrm>
          <a:prstGeom prst="rect">
            <a:avLst/>
          </a:prstGeom>
          <a:noFill/>
          <a:ln/>
        </p:spPr>
        <p:txBody>
          <a:bodyPr wrap="square" lIns="0" tIns="0" rIns="0" bIns="0" rtlCol="0" anchor="ctr"/>
          <a:lstStyle/>
          <a:p>
            <a:pPr indent="0" marL="0">
              <a:buNone/>
            </a:pPr>
            <a:r>
              <a:rPr lang="en-US" sz="850" dirty="0">
                <a:solidFill>
                  <a:srgbClr val="948BA3"/>
                </a:solidFill>
                <a:latin typeface="Calibri" pitchFamily="34" charset="0"/>
                <a:ea typeface="Calibri" pitchFamily="34" charset="-122"/>
                <a:cs typeface="Calibri" pitchFamily="34" charset="-120"/>
              </a:rPr>
              <a:t>Ombudsman fédéral des victimes, 2022-2023</a:t>
            </a:r>
            <a:endParaRPr lang="en-US" sz="850" dirty="0"/>
          </a:p>
        </p:txBody>
      </p:sp>
      <p:sp>
        <p:nvSpPr>
          <p:cNvPr id="26" name="Text 23"/>
          <p:cNvSpPr txBox="1"/>
          <p:nvPr/>
        </p:nvSpPr>
        <p:spPr>
          <a:xfrm>
            <a:off x="548640" y="6400800"/>
            <a:ext cx="11064240" cy="228600"/>
          </a:xfrm>
          <a:prstGeom prst="rect">
            <a:avLst/>
          </a:prstGeom>
          <a:noFill/>
          <a:ln/>
        </p:spPr>
        <p:txBody>
          <a:bodyPr wrap="square" lIns="0" tIns="0" rIns="0" bIns="0" rtlCol="0" anchor="ctr"/>
          <a:lstStyle/>
          <a:p>
            <a:pPr indent="0" marL="0">
              <a:buNone/>
            </a:pPr>
            <a:r>
              <a:rPr lang="en-US" sz="900" dirty="0">
                <a:solidFill>
                  <a:srgbClr val="948BA3"/>
                </a:solidFill>
                <a:latin typeface="Calibri" pitchFamily="34" charset="0"/>
                <a:ea typeface="Calibri" pitchFamily="34" charset="-122"/>
                <a:cs typeface="Calibri" pitchFamily="34" charset="-120"/>
              </a:rPr>
              <a:t>Sources : CTV News / Associated Press (28 sept. 2026), Statistique Canada, Bureau de l’ombudsman fédéral des victimes d’actes criminels.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9F3"/>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6A4CE0"/>
          </a:solidFill>
          <a:ln w="12700">
            <a:solidFill>
              <a:srgbClr val="6A4CE0"/>
            </a:solidFill>
            <a:prstDash val="solid"/>
          </a:ln>
        </p:spPr>
      </p:sp>
      <p:sp>
        <p:nvSpPr>
          <p:cNvPr id="3" name="Shape 1"/>
          <p:cNvSpPr/>
          <p:nvPr/>
        </p:nvSpPr>
        <p:spPr>
          <a:xfrm>
            <a:off x="672084" y="429768"/>
            <a:ext cx="137160" cy="292608"/>
          </a:xfrm>
          <a:prstGeom prst="diamond">
            <a:avLst/>
          </a:prstGeom>
          <a:solidFill>
            <a:srgbClr val="FFF9F3"/>
          </a:solidFill>
          <a:ln w="12700">
            <a:solidFill>
              <a:srgbClr val="FFF9F3"/>
            </a:solidFill>
            <a:prstDash val="solid"/>
          </a:ln>
        </p:spPr>
      </p:sp>
      <p:sp>
        <p:nvSpPr>
          <p:cNvPr id="4" name="Shape 2"/>
          <p:cNvSpPr/>
          <p:nvPr/>
        </p:nvSpPr>
        <p:spPr>
          <a:xfrm>
            <a:off x="672084" y="429768"/>
            <a:ext cx="137160" cy="146304"/>
          </a:xfrm>
          <a:prstGeom prst="triangle">
            <a:avLst/>
          </a:prstGeom>
          <a:solidFill>
            <a:srgbClr val="FF8A65"/>
          </a:solidFill>
          <a:ln w="12700">
            <a:solidFill>
              <a:srgbClr val="FF8A65"/>
            </a:solidFill>
            <a:prstDash val="solid"/>
          </a:ln>
        </p:spPr>
      </p:sp>
      <p:sp>
        <p:nvSpPr>
          <p:cNvPr id="5" name="Text 3"/>
          <p:cNvSpPr txBox="1"/>
          <p:nvPr/>
        </p:nvSpPr>
        <p:spPr>
          <a:xfrm>
            <a:off x="1024128" y="384048"/>
            <a:ext cx="2743200" cy="384048"/>
          </a:xfrm>
          <a:prstGeom prst="rect">
            <a:avLst/>
          </a:prstGeom>
          <a:noFill/>
          <a:ln/>
        </p:spPr>
        <p:txBody>
          <a:bodyPr wrap="square" lIns="0" tIns="0" rIns="0" bIns="0" rtlCol="0" anchor="ctr"/>
          <a:lstStyle/>
          <a:p>
            <a:pPr indent="0" marL="0">
              <a:buNone/>
            </a:pPr>
            <a:r>
              <a:rPr lang="en-US" sz="2000" b="1" dirty="0">
                <a:solidFill>
                  <a:srgbClr val="2D2440"/>
                </a:solidFill>
                <a:latin typeface="Calibri" pitchFamily="34" charset="0"/>
                <a:ea typeface="Calibri" pitchFamily="34" charset="-122"/>
                <a:cs typeface="Calibri" pitchFamily="34" charset="-120"/>
              </a:rPr>
              <a:t>Boussole</a:t>
            </a:r>
            <a:endParaRPr lang="en-US" sz="2000" dirty="0"/>
          </a:p>
        </p:txBody>
      </p:sp>
      <p:sp>
        <p:nvSpPr>
          <p:cNvPr id="6" name="Text 4"/>
          <p:cNvSpPr txBox="1"/>
          <p:nvPr/>
        </p:nvSpPr>
        <p:spPr>
          <a:xfrm>
            <a:off x="7498080" y="420624"/>
            <a:ext cx="4160520" cy="310896"/>
          </a:xfrm>
          <a:prstGeom prst="rect">
            <a:avLst/>
          </a:prstGeom>
          <a:noFill/>
          <a:ln/>
        </p:spPr>
        <p:txBody>
          <a:bodyPr wrap="square" lIns="0" tIns="0" rIns="0" bIns="0" rtlCol="0" anchor="ctr"/>
          <a:lstStyle/>
          <a:p>
            <a:pPr algn="r" indent="0" marL="0">
              <a:buNone/>
            </a:pPr>
            <a:r>
              <a:rPr lang="en-US" sz="1300" b="1" dirty="0">
                <a:solidFill>
                  <a:srgbClr val="6A4CE0"/>
                </a:solidFill>
                <a:latin typeface="Calibri" pitchFamily="34" charset="0"/>
                <a:ea typeface="Calibri" pitchFamily="34" charset="-122"/>
                <a:cs typeface="Calibri" pitchFamily="34" charset="-120"/>
              </a:rPr>
              <a:t>02 · NOTRE SOLUTION</a:t>
            </a:r>
            <a:endParaRPr lang="en-US" sz="1300" dirty="0"/>
          </a:p>
        </p:txBody>
      </p:sp>
      <p:sp>
        <p:nvSpPr>
          <p:cNvPr id="7" name="Text 5"/>
          <p:cNvSpPr txBox="1"/>
          <p:nvPr/>
        </p:nvSpPr>
        <p:spPr>
          <a:xfrm>
            <a:off x="548640" y="1005840"/>
            <a:ext cx="5897880" cy="685800"/>
          </a:xfrm>
          <a:prstGeom prst="rect">
            <a:avLst/>
          </a:prstGeom>
          <a:noFill/>
          <a:ln/>
        </p:spPr>
        <p:txBody>
          <a:bodyPr wrap="square" lIns="0" tIns="0" rIns="0" bIns="0" rtlCol="0" anchor="ctr"/>
          <a:lstStyle/>
          <a:p>
            <a:pPr indent="0" marL="0">
              <a:buNone/>
            </a:pPr>
            <a:r>
              <a:rPr lang="en-US" sz="3000" b="1" dirty="0">
                <a:solidFill>
                  <a:srgbClr val="2D2440"/>
                </a:solidFill>
                <a:latin typeface="Calibri" pitchFamily="34" charset="0"/>
                <a:ea typeface="Calibri" pitchFamily="34" charset="-122"/>
                <a:cs typeface="Calibri" pitchFamily="34" charset="-120"/>
              </a:rPr>
              <a:t>Un seul endroit. </a:t>
            </a:r>
            <a:pPr indent="0" marL="0">
              <a:buNone/>
            </a:pPr>
            <a:r>
              <a:rPr lang="en-US" sz="3000" b="1" dirty="0">
                <a:solidFill>
                  <a:srgbClr val="6A4CE0"/>
                </a:solidFill>
                <a:latin typeface="Calibri" pitchFamily="34" charset="0"/>
                <a:ea typeface="Calibri" pitchFamily="34" charset="-122"/>
                <a:cs typeface="Calibri" pitchFamily="34" charset="-120"/>
              </a:rPr>
              <a:t>Pas à pas.</a:t>
            </a:r>
            <a:endParaRPr lang="en-US" sz="3000" dirty="0"/>
          </a:p>
        </p:txBody>
      </p:sp>
      <p:sp>
        <p:nvSpPr>
          <p:cNvPr id="8" name="Text 6"/>
          <p:cNvSpPr txBox="1"/>
          <p:nvPr/>
        </p:nvSpPr>
        <p:spPr>
          <a:xfrm>
            <a:off x="548640" y="1737360"/>
            <a:ext cx="5760720" cy="457200"/>
          </a:xfrm>
          <a:prstGeom prst="rect">
            <a:avLst/>
          </a:prstGeom>
          <a:noFill/>
          <a:ln/>
        </p:spPr>
        <p:txBody>
          <a:bodyPr wrap="square" lIns="0" tIns="0" rIns="0" bIns="0" rtlCol="0" anchor="ctr"/>
          <a:lstStyle/>
          <a:p>
            <a:pPr indent="0" marL="0">
              <a:buNone/>
            </a:pPr>
            <a:r>
              <a:rPr lang="en-US" sz="1600" dirty="0">
                <a:solidFill>
                  <a:srgbClr val="5E5670"/>
                </a:solidFill>
                <a:latin typeface="Calibri" pitchFamily="34" charset="0"/>
                <a:ea typeface="Calibri" pitchFamily="34" charset="-122"/>
                <a:cs typeface="Calibri" pitchFamily="34" charset="-120"/>
              </a:rPr>
              <a:t>Boussole guide la personne de la première nuit jusqu’à l’avocat, dans l’ordre, à son rythme.</a:t>
            </a:r>
            <a:endParaRPr lang="en-US" sz="1600" dirty="0"/>
          </a:p>
        </p:txBody>
      </p:sp>
      <p:sp>
        <p:nvSpPr>
          <p:cNvPr id="9" name="Shape 7"/>
          <p:cNvSpPr/>
          <p:nvPr/>
        </p:nvSpPr>
        <p:spPr>
          <a:xfrm>
            <a:off x="548640" y="2414016"/>
            <a:ext cx="457200" cy="457200"/>
          </a:xfrm>
          <a:prstGeom prst="ellipse">
            <a:avLst/>
          </a:prstGeom>
          <a:solidFill>
            <a:srgbClr val="EEE8FF"/>
          </a:solidFill>
          <a:ln w="12700">
            <a:solidFill>
              <a:srgbClr val="EEE8FF"/>
            </a:solidFill>
            <a:prstDash val="solid"/>
          </a:ln>
        </p:spPr>
      </p:sp>
      <p:sp>
        <p:nvSpPr>
          <p:cNvPr id="10" name="Text 8"/>
          <p:cNvSpPr txBox="1"/>
          <p:nvPr/>
        </p:nvSpPr>
        <p:spPr>
          <a:xfrm>
            <a:off x="548640" y="2414016"/>
            <a:ext cx="457200" cy="457200"/>
          </a:xfrm>
          <a:prstGeom prst="rect">
            <a:avLst/>
          </a:prstGeom>
          <a:noFill/>
          <a:ln/>
        </p:spPr>
        <p:txBody>
          <a:bodyPr wrap="square" lIns="0" tIns="0" rIns="0" bIns="0" rtlCol="0" anchor="ctr"/>
          <a:lstStyle/>
          <a:p>
            <a:pPr algn="ctr" indent="0" marL="0">
              <a:buNone/>
            </a:pPr>
            <a:r>
              <a:rPr lang="en-US" sz="1600" b="1" dirty="0">
                <a:solidFill>
                  <a:srgbClr val="6A4CE0"/>
                </a:solidFill>
                <a:latin typeface="Calibri" pitchFamily="34" charset="0"/>
                <a:ea typeface="Calibri" pitchFamily="34" charset="-122"/>
                <a:cs typeface="Calibri" pitchFamily="34" charset="-120"/>
              </a:rPr>
              <a:t>1</a:t>
            </a:r>
            <a:endParaRPr lang="en-US" sz="1600" dirty="0"/>
          </a:p>
        </p:txBody>
      </p:sp>
      <p:sp>
        <p:nvSpPr>
          <p:cNvPr id="11" name="Text 9"/>
          <p:cNvSpPr txBox="1"/>
          <p:nvPr/>
        </p:nvSpPr>
        <p:spPr>
          <a:xfrm>
            <a:off x="1170432" y="2377440"/>
            <a:ext cx="5074920" cy="274320"/>
          </a:xfrm>
          <a:prstGeom prst="rect">
            <a:avLst/>
          </a:prstGeom>
          <a:noFill/>
          <a:ln/>
        </p:spPr>
        <p:txBody>
          <a:bodyPr wrap="square" lIns="0" tIns="0" rIns="0" bIns="0" rtlCol="0" anchor="ctr"/>
          <a:lstStyle/>
          <a:p>
            <a:pPr indent="0" marL="0">
              <a:buNone/>
            </a:pPr>
            <a:r>
              <a:rPr lang="en-US" sz="1450" b="1" dirty="0">
                <a:solidFill>
                  <a:srgbClr val="2D2440"/>
                </a:solidFill>
                <a:latin typeface="Calibri" pitchFamily="34" charset="0"/>
                <a:ea typeface="Calibri" pitchFamily="34" charset="-122"/>
                <a:cs typeface="Calibri" pitchFamily="34" charset="-120"/>
              </a:rPr>
              <a:t>Un compte en 30 secondes</a:t>
            </a:r>
            <a:endParaRPr lang="en-US" sz="1450" dirty="0"/>
          </a:p>
        </p:txBody>
      </p:sp>
      <p:sp>
        <p:nvSpPr>
          <p:cNvPr id="12" name="Text 10"/>
          <p:cNvSpPr txBox="1"/>
          <p:nvPr/>
        </p:nvSpPr>
        <p:spPr>
          <a:xfrm>
            <a:off x="1170432" y="2651760"/>
            <a:ext cx="5074920" cy="347472"/>
          </a:xfrm>
          <a:prstGeom prst="rect">
            <a:avLst/>
          </a:prstGeom>
          <a:noFill/>
          <a:ln/>
        </p:spPr>
        <p:txBody>
          <a:bodyPr wrap="square" lIns="0" tIns="0" rIns="0" bIns="0" rtlCol="0" anchor="t"/>
          <a:lstStyle/>
          <a:p>
            <a:pPr indent="0" marL="0">
              <a:buNone/>
            </a:pPr>
            <a:r>
              <a:rPr lang="en-US" sz="1050" dirty="0">
                <a:solidFill>
                  <a:srgbClr val="5E5670"/>
                </a:solidFill>
                <a:latin typeface="Calibri" pitchFamily="34" charset="0"/>
                <a:ea typeface="Calibri" pitchFamily="34" charset="-122"/>
                <a:cs typeface="Calibri" pitchFamily="34" charset="-120"/>
              </a:rPr>
              <a:t>Prénom, courriel, mot de passe. Tout est chiffré sur l’appareil.</a:t>
            </a:r>
            <a:endParaRPr lang="en-US" sz="1050" dirty="0"/>
          </a:p>
        </p:txBody>
      </p:sp>
      <p:sp>
        <p:nvSpPr>
          <p:cNvPr id="13" name="Shape 11"/>
          <p:cNvSpPr/>
          <p:nvPr/>
        </p:nvSpPr>
        <p:spPr>
          <a:xfrm>
            <a:off x="548640" y="3081528"/>
            <a:ext cx="457200" cy="457200"/>
          </a:xfrm>
          <a:prstGeom prst="ellipse">
            <a:avLst/>
          </a:prstGeom>
          <a:solidFill>
            <a:srgbClr val="FFE6DC"/>
          </a:solidFill>
          <a:ln w="12700">
            <a:solidFill>
              <a:srgbClr val="FFE6DC"/>
            </a:solidFill>
            <a:prstDash val="solid"/>
          </a:ln>
        </p:spPr>
      </p:sp>
      <p:sp>
        <p:nvSpPr>
          <p:cNvPr id="14" name="Text 12"/>
          <p:cNvSpPr txBox="1"/>
          <p:nvPr/>
        </p:nvSpPr>
        <p:spPr>
          <a:xfrm>
            <a:off x="548640" y="3081528"/>
            <a:ext cx="457200" cy="457200"/>
          </a:xfrm>
          <a:prstGeom prst="rect">
            <a:avLst/>
          </a:prstGeom>
          <a:noFill/>
          <a:ln/>
        </p:spPr>
        <p:txBody>
          <a:bodyPr wrap="square" lIns="0" tIns="0" rIns="0" bIns="0" rtlCol="0" anchor="ctr"/>
          <a:lstStyle/>
          <a:p>
            <a:pPr algn="ctr" indent="0" marL="0">
              <a:buNone/>
            </a:pPr>
            <a:r>
              <a:rPr lang="en-US" sz="1600" b="1" dirty="0">
                <a:solidFill>
                  <a:srgbClr val="FF8A65"/>
                </a:solidFill>
                <a:latin typeface="Calibri" pitchFamily="34" charset="0"/>
                <a:ea typeface="Calibri" pitchFamily="34" charset="-122"/>
                <a:cs typeface="Calibri" pitchFamily="34" charset="-120"/>
              </a:rPr>
              <a:t>2</a:t>
            </a:r>
            <a:endParaRPr lang="en-US" sz="1600" dirty="0"/>
          </a:p>
        </p:txBody>
      </p:sp>
      <p:sp>
        <p:nvSpPr>
          <p:cNvPr id="15" name="Text 13"/>
          <p:cNvSpPr txBox="1"/>
          <p:nvPr/>
        </p:nvSpPr>
        <p:spPr>
          <a:xfrm>
            <a:off x="1170432" y="3044952"/>
            <a:ext cx="5074920" cy="274320"/>
          </a:xfrm>
          <a:prstGeom prst="rect">
            <a:avLst/>
          </a:prstGeom>
          <a:noFill/>
          <a:ln/>
        </p:spPr>
        <p:txBody>
          <a:bodyPr wrap="square" lIns="0" tIns="0" rIns="0" bIns="0" rtlCol="0" anchor="ctr"/>
          <a:lstStyle/>
          <a:p>
            <a:pPr indent="0" marL="0">
              <a:buNone/>
            </a:pPr>
            <a:r>
              <a:rPr lang="en-US" sz="1450" b="1" dirty="0">
                <a:solidFill>
                  <a:srgbClr val="2D2440"/>
                </a:solidFill>
                <a:latin typeface="Calibri" pitchFamily="34" charset="0"/>
                <a:ea typeface="Calibri" pitchFamily="34" charset="-122"/>
                <a:cs typeface="Calibri" pitchFamily="34" charset="-120"/>
              </a:rPr>
              <a:t>Les étapes, dans le bon ordre</a:t>
            </a:r>
            <a:endParaRPr lang="en-US" sz="1450" dirty="0"/>
          </a:p>
        </p:txBody>
      </p:sp>
      <p:sp>
        <p:nvSpPr>
          <p:cNvPr id="16" name="Text 14"/>
          <p:cNvSpPr txBox="1"/>
          <p:nvPr/>
        </p:nvSpPr>
        <p:spPr>
          <a:xfrm>
            <a:off x="1170432" y="3319272"/>
            <a:ext cx="5074920" cy="347472"/>
          </a:xfrm>
          <a:prstGeom prst="rect">
            <a:avLst/>
          </a:prstGeom>
          <a:noFill/>
          <a:ln/>
        </p:spPr>
        <p:txBody>
          <a:bodyPr wrap="square" lIns="0" tIns="0" rIns="0" bIns="0" rtlCol="0" anchor="t"/>
          <a:lstStyle/>
          <a:p>
            <a:pPr indent="0" marL="0">
              <a:buNone/>
            </a:pPr>
            <a:r>
              <a:rPr lang="en-US" sz="1050" dirty="0">
                <a:solidFill>
                  <a:srgbClr val="5E5670"/>
                </a:solidFill>
                <a:latin typeface="Calibri" pitchFamily="34" charset="0"/>
                <a:ea typeface="Calibri" pitchFamily="34" charset="-122"/>
                <a:cs typeface="Calibri" pitchFamily="34" charset="-120"/>
              </a:rPr>
              <a:t>Sécurité, Info-aide 24 h/24, soins, choix de la trousse, soutien, droits.</a:t>
            </a:r>
            <a:endParaRPr lang="en-US" sz="1050" dirty="0"/>
          </a:p>
        </p:txBody>
      </p:sp>
      <p:sp>
        <p:nvSpPr>
          <p:cNvPr id="17" name="Shape 15"/>
          <p:cNvSpPr/>
          <p:nvPr/>
        </p:nvSpPr>
        <p:spPr>
          <a:xfrm>
            <a:off x="548640" y="3749040"/>
            <a:ext cx="457200" cy="457200"/>
          </a:xfrm>
          <a:prstGeom prst="ellipse">
            <a:avLst/>
          </a:prstGeom>
          <a:solidFill>
            <a:srgbClr val="FFF1D6"/>
          </a:solidFill>
          <a:ln w="12700">
            <a:solidFill>
              <a:srgbClr val="FFF1D6"/>
            </a:solidFill>
            <a:prstDash val="solid"/>
          </a:ln>
        </p:spPr>
      </p:sp>
      <p:sp>
        <p:nvSpPr>
          <p:cNvPr id="18" name="Text 16"/>
          <p:cNvSpPr txBox="1"/>
          <p:nvPr/>
        </p:nvSpPr>
        <p:spPr>
          <a:xfrm>
            <a:off x="548640" y="3749040"/>
            <a:ext cx="457200" cy="457200"/>
          </a:xfrm>
          <a:prstGeom prst="rect">
            <a:avLst/>
          </a:prstGeom>
          <a:noFill/>
          <a:ln/>
        </p:spPr>
        <p:txBody>
          <a:bodyPr wrap="square" lIns="0" tIns="0" rIns="0" bIns="0" rtlCol="0" anchor="ctr"/>
          <a:lstStyle/>
          <a:p>
            <a:pPr algn="ctr" indent="0" marL="0">
              <a:buNone/>
            </a:pPr>
            <a:r>
              <a:rPr lang="en-US" sz="1600" b="1" dirty="0">
                <a:solidFill>
                  <a:srgbClr val="E9A23B"/>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1170432" y="3712464"/>
            <a:ext cx="5074920" cy="274320"/>
          </a:xfrm>
          <a:prstGeom prst="rect">
            <a:avLst/>
          </a:prstGeom>
          <a:noFill/>
          <a:ln/>
        </p:spPr>
        <p:txBody>
          <a:bodyPr wrap="square" lIns="0" tIns="0" rIns="0" bIns="0" rtlCol="0" anchor="ctr"/>
          <a:lstStyle/>
          <a:p>
            <a:pPr indent="0" marL="0">
              <a:buNone/>
            </a:pPr>
            <a:r>
              <a:rPr lang="en-US" sz="1450" b="1" dirty="0">
                <a:solidFill>
                  <a:srgbClr val="2D2440"/>
                </a:solidFill>
                <a:latin typeface="Calibri" pitchFamily="34" charset="0"/>
                <a:ea typeface="Calibri" pitchFamily="34" charset="-122"/>
                <a:cs typeface="Calibri" pitchFamily="34" charset="-120"/>
              </a:rPr>
              <a:t>Son récit, une seule fois</a:t>
            </a:r>
            <a:endParaRPr lang="en-US" sz="1450" dirty="0"/>
          </a:p>
        </p:txBody>
      </p:sp>
      <p:sp>
        <p:nvSpPr>
          <p:cNvPr id="20" name="Text 18"/>
          <p:cNvSpPr txBox="1"/>
          <p:nvPr/>
        </p:nvSpPr>
        <p:spPr>
          <a:xfrm>
            <a:off x="1170432" y="3986784"/>
            <a:ext cx="5074920" cy="347472"/>
          </a:xfrm>
          <a:prstGeom prst="rect">
            <a:avLst/>
          </a:prstGeom>
          <a:noFill/>
          <a:ln/>
        </p:spPr>
        <p:txBody>
          <a:bodyPr wrap="square" lIns="0" tIns="0" rIns="0" bIns="0" rtlCol="0" anchor="t"/>
          <a:lstStyle/>
          <a:p>
            <a:pPr indent="0" marL="0">
              <a:buNone/>
            </a:pPr>
            <a:r>
              <a:rPr lang="en-US" sz="1050" dirty="0">
                <a:solidFill>
                  <a:srgbClr val="5E5670"/>
                </a:solidFill>
                <a:latin typeface="Calibri" pitchFamily="34" charset="0"/>
                <a:ea typeface="Calibri" pitchFamily="34" charset="-122"/>
                <a:cs typeface="Calibri" pitchFamily="34" charset="-120"/>
              </a:rPr>
              <a:t>Une fiche guidée, sans jugement, partagée seulement si elle le décide.</a:t>
            </a:r>
            <a:endParaRPr lang="en-US" sz="1050" dirty="0"/>
          </a:p>
        </p:txBody>
      </p:sp>
      <p:sp>
        <p:nvSpPr>
          <p:cNvPr id="21" name="Shape 19"/>
          <p:cNvSpPr/>
          <p:nvPr/>
        </p:nvSpPr>
        <p:spPr>
          <a:xfrm>
            <a:off x="548640" y="4416552"/>
            <a:ext cx="457200" cy="457200"/>
          </a:xfrm>
          <a:prstGeom prst="ellipse">
            <a:avLst/>
          </a:prstGeom>
          <a:solidFill>
            <a:srgbClr val="E1EEFB"/>
          </a:solidFill>
          <a:ln w="12700">
            <a:solidFill>
              <a:srgbClr val="E1EEFB"/>
            </a:solidFill>
            <a:prstDash val="solid"/>
          </a:ln>
        </p:spPr>
      </p:sp>
      <p:sp>
        <p:nvSpPr>
          <p:cNvPr id="22" name="Text 20"/>
          <p:cNvSpPr txBox="1"/>
          <p:nvPr/>
        </p:nvSpPr>
        <p:spPr>
          <a:xfrm>
            <a:off x="548640" y="4416552"/>
            <a:ext cx="457200" cy="457200"/>
          </a:xfrm>
          <a:prstGeom prst="rect">
            <a:avLst/>
          </a:prstGeom>
          <a:noFill/>
          <a:ln/>
        </p:spPr>
        <p:txBody>
          <a:bodyPr wrap="square" lIns="0" tIns="0" rIns="0" bIns="0" rtlCol="0" anchor="ctr"/>
          <a:lstStyle/>
          <a:p>
            <a:pPr algn="ctr" indent="0" marL="0">
              <a:buNone/>
            </a:pPr>
            <a:r>
              <a:rPr lang="en-US" sz="1600" b="1" dirty="0">
                <a:solidFill>
                  <a:srgbClr val="3D86D6"/>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1170432" y="4379976"/>
            <a:ext cx="5074920" cy="274320"/>
          </a:xfrm>
          <a:prstGeom prst="rect">
            <a:avLst/>
          </a:prstGeom>
          <a:noFill/>
          <a:ln/>
        </p:spPr>
        <p:txBody>
          <a:bodyPr wrap="square" lIns="0" tIns="0" rIns="0" bIns="0" rtlCol="0" anchor="ctr"/>
          <a:lstStyle/>
          <a:p>
            <a:pPr indent="0" marL="0">
              <a:buNone/>
            </a:pPr>
            <a:r>
              <a:rPr lang="en-US" sz="1450" b="1" dirty="0">
                <a:solidFill>
                  <a:srgbClr val="2D2440"/>
                </a:solidFill>
                <a:latin typeface="Calibri" pitchFamily="34" charset="0"/>
                <a:ea typeface="Calibri" pitchFamily="34" charset="-122"/>
                <a:cs typeface="Calibri" pitchFamily="34" charset="-120"/>
              </a:rPr>
              <a:t>Où aller à Montréal</a:t>
            </a:r>
            <a:endParaRPr lang="en-US" sz="1450" dirty="0"/>
          </a:p>
        </p:txBody>
      </p:sp>
      <p:sp>
        <p:nvSpPr>
          <p:cNvPr id="24" name="Text 22"/>
          <p:cNvSpPr txBox="1"/>
          <p:nvPr/>
        </p:nvSpPr>
        <p:spPr>
          <a:xfrm>
            <a:off x="1170432" y="4654296"/>
            <a:ext cx="5074920" cy="347472"/>
          </a:xfrm>
          <a:prstGeom prst="rect">
            <a:avLst/>
          </a:prstGeom>
          <a:noFill/>
          <a:ln/>
        </p:spPr>
        <p:txBody>
          <a:bodyPr wrap="square" lIns="0" tIns="0" rIns="0" bIns="0" rtlCol="0" anchor="t"/>
          <a:lstStyle/>
          <a:p>
            <a:pPr indent="0" marL="0">
              <a:buNone/>
            </a:pPr>
            <a:r>
              <a:rPr lang="en-US" sz="1050" dirty="0">
                <a:solidFill>
                  <a:srgbClr val="5E5670"/>
                </a:solidFill>
                <a:latin typeface="Calibri" pitchFamily="34" charset="0"/>
                <a:ea typeface="Calibri" pitchFamily="34" charset="-122"/>
                <a:cs typeface="Calibri" pitchFamily="34" charset="-120"/>
              </a:rPr>
              <a:t>Examens médicaux au plus tôt, soutien psychologique : 24 organismes vérifiés sur une carte.</a:t>
            </a:r>
            <a:endParaRPr lang="en-US" sz="1050" dirty="0"/>
          </a:p>
        </p:txBody>
      </p:sp>
      <p:sp>
        <p:nvSpPr>
          <p:cNvPr id="25" name="Shape 23"/>
          <p:cNvSpPr/>
          <p:nvPr/>
        </p:nvSpPr>
        <p:spPr>
          <a:xfrm>
            <a:off x="548640" y="5084064"/>
            <a:ext cx="457200" cy="457200"/>
          </a:xfrm>
          <a:prstGeom prst="ellipse">
            <a:avLst/>
          </a:prstGeom>
          <a:solidFill>
            <a:srgbClr val="DDF3E8"/>
          </a:solidFill>
          <a:ln w="12700">
            <a:solidFill>
              <a:srgbClr val="DDF3E8"/>
            </a:solidFill>
            <a:prstDash val="solid"/>
          </a:ln>
        </p:spPr>
      </p:sp>
      <p:sp>
        <p:nvSpPr>
          <p:cNvPr id="26" name="Text 24"/>
          <p:cNvSpPr txBox="1"/>
          <p:nvPr/>
        </p:nvSpPr>
        <p:spPr>
          <a:xfrm>
            <a:off x="548640" y="5084064"/>
            <a:ext cx="457200" cy="457200"/>
          </a:xfrm>
          <a:prstGeom prst="rect">
            <a:avLst/>
          </a:prstGeom>
          <a:noFill/>
          <a:ln/>
        </p:spPr>
        <p:txBody>
          <a:bodyPr wrap="square" lIns="0" tIns="0" rIns="0" bIns="0" rtlCol="0" anchor="ctr"/>
          <a:lstStyle/>
          <a:p>
            <a:pPr algn="ctr" indent="0" marL="0">
              <a:buNone/>
            </a:pPr>
            <a:r>
              <a:rPr lang="en-US" sz="1600" b="1" dirty="0">
                <a:solidFill>
                  <a:srgbClr val="2F9E78"/>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1170432" y="5047488"/>
            <a:ext cx="5074920" cy="274320"/>
          </a:xfrm>
          <a:prstGeom prst="rect">
            <a:avLst/>
          </a:prstGeom>
          <a:noFill/>
          <a:ln/>
        </p:spPr>
        <p:txBody>
          <a:bodyPr wrap="square" lIns="0" tIns="0" rIns="0" bIns="0" rtlCol="0" anchor="ctr"/>
          <a:lstStyle/>
          <a:p>
            <a:pPr indent="0" marL="0">
              <a:buNone/>
            </a:pPr>
            <a:r>
              <a:rPr lang="en-US" sz="1450" b="1" dirty="0">
                <a:solidFill>
                  <a:srgbClr val="2D2440"/>
                </a:solidFill>
                <a:latin typeface="Calibri" pitchFamily="34" charset="0"/>
                <a:ea typeface="Calibri" pitchFamily="34" charset="-122"/>
                <a:cs typeface="Calibri" pitchFamily="34" charset="-120"/>
              </a:rPr>
              <a:t>Un dossier prêt pour la justice</a:t>
            </a:r>
            <a:endParaRPr lang="en-US" sz="1450" dirty="0"/>
          </a:p>
        </p:txBody>
      </p:sp>
      <p:sp>
        <p:nvSpPr>
          <p:cNvPr id="28" name="Text 26"/>
          <p:cNvSpPr txBox="1"/>
          <p:nvPr/>
        </p:nvSpPr>
        <p:spPr>
          <a:xfrm>
            <a:off x="1170432" y="5321808"/>
            <a:ext cx="5074920" cy="347472"/>
          </a:xfrm>
          <a:prstGeom prst="rect">
            <a:avLst/>
          </a:prstGeom>
          <a:noFill/>
          <a:ln/>
        </p:spPr>
        <p:txBody>
          <a:bodyPr wrap="square" lIns="0" tIns="0" rIns="0" bIns="0" rtlCol="0" anchor="t"/>
          <a:lstStyle/>
          <a:p>
            <a:pPr indent="0" marL="0">
              <a:buNone/>
            </a:pPr>
            <a:r>
              <a:rPr lang="en-US" sz="1050" dirty="0">
                <a:solidFill>
                  <a:srgbClr val="5E5670"/>
                </a:solidFill>
                <a:latin typeface="Calibri" pitchFamily="34" charset="0"/>
                <a:ea typeface="Calibri" pitchFamily="34" charset="-122"/>
                <a:cs typeface="Calibri" pitchFamily="34" charset="-120"/>
              </a:rPr>
              <a:t>Assemblé, aperçu, envoyé avec double confirmation.</a:t>
            </a:r>
            <a:endParaRPr lang="en-US" sz="1050" dirty="0"/>
          </a:p>
        </p:txBody>
      </p:sp>
      <p:sp>
        <p:nvSpPr>
          <p:cNvPr id="29" name="Shape 27"/>
          <p:cNvSpPr/>
          <p:nvPr/>
        </p:nvSpPr>
        <p:spPr>
          <a:xfrm>
            <a:off x="548640" y="5751576"/>
            <a:ext cx="457200" cy="457200"/>
          </a:xfrm>
          <a:prstGeom prst="ellipse">
            <a:avLst/>
          </a:prstGeom>
          <a:solidFill>
            <a:srgbClr val="EEE8FF"/>
          </a:solidFill>
          <a:ln w="12700">
            <a:solidFill>
              <a:srgbClr val="EEE8FF"/>
            </a:solidFill>
            <a:prstDash val="solid"/>
          </a:ln>
        </p:spPr>
      </p:sp>
      <p:sp>
        <p:nvSpPr>
          <p:cNvPr id="30" name="Text 28"/>
          <p:cNvSpPr txBox="1"/>
          <p:nvPr/>
        </p:nvSpPr>
        <p:spPr>
          <a:xfrm>
            <a:off x="548640" y="5751576"/>
            <a:ext cx="457200" cy="457200"/>
          </a:xfrm>
          <a:prstGeom prst="rect">
            <a:avLst/>
          </a:prstGeom>
          <a:noFill/>
          <a:ln/>
        </p:spPr>
        <p:txBody>
          <a:bodyPr wrap="square" lIns="0" tIns="0" rIns="0" bIns="0" rtlCol="0" anchor="ctr"/>
          <a:lstStyle/>
          <a:p>
            <a:pPr algn="ctr" indent="0" marL="0">
              <a:buNone/>
            </a:pPr>
            <a:r>
              <a:rPr lang="en-US" sz="1600" b="1" dirty="0">
                <a:solidFill>
                  <a:srgbClr val="6A4CE0"/>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1170432" y="5715000"/>
            <a:ext cx="5074920" cy="274320"/>
          </a:xfrm>
          <a:prstGeom prst="rect">
            <a:avLst/>
          </a:prstGeom>
          <a:noFill/>
          <a:ln/>
        </p:spPr>
        <p:txBody>
          <a:bodyPr wrap="square" lIns="0" tIns="0" rIns="0" bIns="0" rtlCol="0" anchor="ctr"/>
          <a:lstStyle/>
          <a:p>
            <a:pPr indent="0" marL="0">
              <a:buNone/>
            </a:pPr>
            <a:r>
              <a:rPr lang="en-US" sz="1450" b="1" dirty="0">
                <a:solidFill>
                  <a:srgbClr val="2D2440"/>
                </a:solidFill>
                <a:latin typeface="Calibri" pitchFamily="34" charset="0"/>
                <a:ea typeface="Calibri" pitchFamily="34" charset="-122"/>
                <a:cs typeface="Calibri" pitchFamily="34" charset="-120"/>
              </a:rPr>
              <a:t>Rappel d’un avocat spécialisé</a:t>
            </a:r>
            <a:endParaRPr lang="en-US" sz="1450" dirty="0"/>
          </a:p>
        </p:txBody>
      </p:sp>
      <p:sp>
        <p:nvSpPr>
          <p:cNvPr id="32" name="Text 30"/>
          <p:cNvSpPr txBox="1"/>
          <p:nvPr/>
        </p:nvSpPr>
        <p:spPr>
          <a:xfrm>
            <a:off x="1170432" y="5989320"/>
            <a:ext cx="5074920" cy="347472"/>
          </a:xfrm>
          <a:prstGeom prst="rect">
            <a:avLst/>
          </a:prstGeom>
          <a:noFill/>
          <a:ln/>
        </p:spPr>
        <p:txBody>
          <a:bodyPr wrap="square" lIns="0" tIns="0" rIns="0" bIns="0" rtlCol="0" anchor="t"/>
          <a:lstStyle/>
          <a:p>
            <a:pPr indent="0" marL="0">
              <a:buNone/>
            </a:pPr>
            <a:r>
              <a:rPr lang="en-US" sz="1050" dirty="0">
                <a:solidFill>
                  <a:srgbClr val="5E5670"/>
                </a:solidFill>
                <a:latin typeface="Calibri" pitchFamily="34" charset="0"/>
                <a:ea typeface="Calibri" pitchFamily="34" charset="-122"/>
                <a:cs typeface="Calibri" pitchFamily="34" charset="-120"/>
              </a:rPr>
              <a:t>Aujourd’hui ou demain, au créneau choisi, avec ses préférences.</a:t>
            </a:r>
            <a:endParaRPr lang="en-US" sz="1050" dirty="0"/>
          </a:p>
        </p:txBody>
      </p:sp>
      <p:sp>
        <p:nvSpPr>
          <p:cNvPr id="33" name="Shape 31"/>
          <p:cNvSpPr/>
          <p:nvPr/>
        </p:nvSpPr>
        <p:spPr>
          <a:xfrm>
            <a:off x="6537960" y="960120"/>
            <a:ext cx="5257800" cy="3520440"/>
          </a:xfrm>
          <a:prstGeom prst="roundRect">
            <a:avLst>
              <a:gd name="adj" fmla="val 5714"/>
            </a:avLst>
          </a:prstGeom>
          <a:solidFill>
            <a:srgbClr val="FFFFFF"/>
          </a:solidFill>
          <a:ln w="12700">
            <a:solidFill>
              <a:srgbClr val="FFFFFF"/>
            </a:solidFill>
            <a:prstDash val="solid"/>
          </a:ln>
          <a:effectLst>
            <a:outerShdw sx="100000" sy="100000" kx="0" ky="0" algn="bl" rotWithShape="0" blurRad="228600" dist="76200" dir="5400000">
              <a:srgbClr val="2D2440">
                <a:alpha val="18000"/>
              </a:srgbClr>
            </a:outerShdw>
          </a:effectLst>
        </p:spPr>
      </p:sp>
      <p:pic>
        <p:nvPicPr>
          <p:cNvPr id="34" name="Image 0" descr="/home/user/hackathon-codeML-SAA/boussole/pitch/assets/app/accueil.jpg">    </p:cNvPr>
          <p:cNvPicPr>
            <a:picLocks noChangeAspect="1"/>
          </p:cNvPicPr>
          <p:nvPr/>
        </p:nvPicPr>
        <p:blipFill>
          <a:blip r:embed="rId1"/>
          <a:stretch>
            <a:fillRect/>
          </a:stretch>
        </p:blipFill>
        <p:spPr>
          <a:xfrm>
            <a:off x="6675120" y="1097280"/>
            <a:ext cx="4983480" cy="3118104"/>
          </a:xfrm>
          <a:prstGeom prst="rect">
            <a:avLst/>
          </a:prstGeom>
        </p:spPr>
      </p:pic>
      <p:sp>
        <p:nvSpPr>
          <p:cNvPr id="35" name="Shape 32"/>
          <p:cNvSpPr/>
          <p:nvPr/>
        </p:nvSpPr>
        <p:spPr>
          <a:xfrm>
            <a:off x="6400800" y="4343400"/>
            <a:ext cx="2788920" cy="2212848"/>
          </a:xfrm>
          <a:prstGeom prst="roundRect">
            <a:avLst>
              <a:gd name="adj" fmla="val 9091"/>
            </a:avLst>
          </a:prstGeom>
          <a:solidFill>
            <a:srgbClr val="FFFFFF"/>
          </a:solidFill>
          <a:ln w="12700">
            <a:solidFill>
              <a:srgbClr val="FFFFFF"/>
            </a:solidFill>
            <a:prstDash val="solid"/>
          </a:ln>
          <a:effectLst>
            <a:outerShdw sx="100000" sy="100000" kx="0" ky="0" algn="bl" rotWithShape="0" blurRad="228600" dist="76200" dir="5400000">
              <a:srgbClr val="2D2440">
                <a:alpha val="22000"/>
              </a:srgbClr>
            </a:outerShdw>
          </a:effectLst>
        </p:spPr>
      </p:sp>
      <p:pic>
        <p:nvPicPr>
          <p:cNvPr id="36" name="Image 1" descr="/home/user/hackathon-codeML-SAA/boussole/pitch/assets/app/etapes.jpg">    </p:cNvPr>
          <p:cNvPicPr>
            <a:picLocks noChangeAspect="1"/>
          </p:cNvPicPr>
          <p:nvPr/>
        </p:nvPicPr>
        <p:blipFill>
          <a:blip r:embed="rId2"/>
          <a:stretch>
            <a:fillRect/>
          </a:stretch>
        </p:blipFill>
        <p:spPr>
          <a:xfrm>
            <a:off x="6492240" y="4434840"/>
            <a:ext cx="2606040" cy="1956816"/>
          </a:xfrm>
          <a:prstGeom prst="rect">
            <a:avLst/>
          </a:prstGeom>
        </p:spPr>
      </p:pic>
      <p:sp>
        <p:nvSpPr>
          <p:cNvPr id="37" name="Shape 33"/>
          <p:cNvSpPr/>
          <p:nvPr/>
        </p:nvSpPr>
        <p:spPr>
          <a:xfrm>
            <a:off x="9372600" y="4343400"/>
            <a:ext cx="2423160" cy="2240280"/>
          </a:xfrm>
          <a:prstGeom prst="roundRect">
            <a:avLst>
              <a:gd name="adj" fmla="val 8980"/>
            </a:avLst>
          </a:prstGeom>
          <a:solidFill>
            <a:srgbClr val="FFFFFF"/>
          </a:solidFill>
          <a:ln w="12700">
            <a:solidFill>
              <a:srgbClr val="FFFFFF"/>
            </a:solidFill>
            <a:prstDash val="solid"/>
          </a:ln>
          <a:effectLst>
            <a:outerShdw sx="100000" sy="100000" kx="0" ky="0" algn="bl" rotWithShape="0" blurRad="228600" dist="76200" dir="5400000">
              <a:srgbClr val="2D2440">
                <a:alpha val="22000"/>
              </a:srgbClr>
            </a:outerShdw>
          </a:effectLst>
        </p:spPr>
      </p:sp>
      <p:pic>
        <p:nvPicPr>
          <p:cNvPr id="38" name="Image 2" descr="/home/user/hackathon-codeML-SAA/boussole/pitch/assets/app/rappel.jpg">    </p:cNvPr>
          <p:cNvPicPr>
            <a:picLocks noChangeAspect="1"/>
          </p:cNvPicPr>
          <p:nvPr/>
        </p:nvPicPr>
        <p:blipFill>
          <a:blip r:embed="rId3"/>
          <a:srcRect l="0" r="0" t="0" b="0"/>
          <a:stretch/>
        </p:blipFill>
        <p:spPr>
          <a:xfrm>
            <a:off x="9464040" y="4434840"/>
            <a:ext cx="2240280" cy="2057400"/>
          </a:xfrm>
          <a:prstGeom prst="rect">
            <a:avLst/>
          </a:prstGeom>
        </p:spPr>
      </p:pic>
      <p:sp>
        <p:nvSpPr>
          <p:cNvPr id="39" name="Text 34"/>
          <p:cNvSpPr txBox="1"/>
          <p:nvPr/>
        </p:nvSpPr>
        <p:spPr>
          <a:xfrm>
            <a:off x="6400800" y="6583680"/>
            <a:ext cx="5394960" cy="201168"/>
          </a:xfrm>
          <a:prstGeom prst="rect">
            <a:avLst/>
          </a:prstGeom>
          <a:noFill/>
          <a:ln/>
        </p:spPr>
        <p:txBody>
          <a:bodyPr wrap="square" lIns="0" tIns="0" rIns="0" bIns="0" rtlCol="0" anchor="ctr"/>
          <a:lstStyle/>
          <a:p>
            <a:pPr algn="r" indent="0" marL="0">
              <a:buNone/>
            </a:pPr>
            <a:r>
              <a:rPr lang="en-US" sz="900" dirty="0">
                <a:solidFill>
                  <a:srgbClr val="948BA3"/>
                </a:solidFill>
                <a:latin typeface="Calibri" pitchFamily="34" charset="0"/>
                <a:ea typeface="Calibri" pitchFamily="34" charset="-122"/>
                <a:cs typeface="Calibri" pitchFamily="34" charset="-120"/>
              </a:rPr>
              <a:t>Captures réelles · bêta en ligne · données fictives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9F3"/>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6A4CE0"/>
          </a:solidFill>
          <a:ln w="12700">
            <a:solidFill>
              <a:srgbClr val="6A4CE0"/>
            </a:solidFill>
            <a:prstDash val="solid"/>
          </a:ln>
        </p:spPr>
      </p:sp>
      <p:sp>
        <p:nvSpPr>
          <p:cNvPr id="3" name="Shape 1"/>
          <p:cNvSpPr/>
          <p:nvPr/>
        </p:nvSpPr>
        <p:spPr>
          <a:xfrm>
            <a:off x="672084" y="429768"/>
            <a:ext cx="137160" cy="292608"/>
          </a:xfrm>
          <a:prstGeom prst="diamond">
            <a:avLst/>
          </a:prstGeom>
          <a:solidFill>
            <a:srgbClr val="FFF9F3"/>
          </a:solidFill>
          <a:ln w="12700">
            <a:solidFill>
              <a:srgbClr val="FFF9F3"/>
            </a:solidFill>
            <a:prstDash val="solid"/>
          </a:ln>
        </p:spPr>
      </p:sp>
      <p:sp>
        <p:nvSpPr>
          <p:cNvPr id="4" name="Shape 2"/>
          <p:cNvSpPr/>
          <p:nvPr/>
        </p:nvSpPr>
        <p:spPr>
          <a:xfrm>
            <a:off x="672084" y="429768"/>
            <a:ext cx="137160" cy="146304"/>
          </a:xfrm>
          <a:prstGeom prst="triangle">
            <a:avLst/>
          </a:prstGeom>
          <a:solidFill>
            <a:srgbClr val="FF8A65"/>
          </a:solidFill>
          <a:ln w="12700">
            <a:solidFill>
              <a:srgbClr val="FF8A65"/>
            </a:solidFill>
            <a:prstDash val="solid"/>
          </a:ln>
        </p:spPr>
      </p:sp>
      <p:sp>
        <p:nvSpPr>
          <p:cNvPr id="5" name="Text 3"/>
          <p:cNvSpPr txBox="1"/>
          <p:nvPr/>
        </p:nvSpPr>
        <p:spPr>
          <a:xfrm>
            <a:off x="1024128" y="384048"/>
            <a:ext cx="2743200" cy="384048"/>
          </a:xfrm>
          <a:prstGeom prst="rect">
            <a:avLst/>
          </a:prstGeom>
          <a:noFill/>
          <a:ln/>
        </p:spPr>
        <p:txBody>
          <a:bodyPr wrap="square" lIns="0" tIns="0" rIns="0" bIns="0" rtlCol="0" anchor="ctr"/>
          <a:lstStyle/>
          <a:p>
            <a:pPr indent="0" marL="0">
              <a:buNone/>
            </a:pPr>
            <a:r>
              <a:rPr lang="en-US" sz="2000" b="1" dirty="0">
                <a:solidFill>
                  <a:srgbClr val="2D2440"/>
                </a:solidFill>
                <a:latin typeface="Calibri" pitchFamily="34" charset="0"/>
                <a:ea typeface="Calibri" pitchFamily="34" charset="-122"/>
                <a:cs typeface="Calibri" pitchFamily="34" charset="-120"/>
              </a:rPr>
              <a:t>Boussole</a:t>
            </a:r>
            <a:endParaRPr lang="en-US" sz="2000" dirty="0"/>
          </a:p>
        </p:txBody>
      </p:sp>
      <p:sp>
        <p:nvSpPr>
          <p:cNvPr id="6" name="Text 4"/>
          <p:cNvSpPr txBox="1"/>
          <p:nvPr/>
        </p:nvSpPr>
        <p:spPr>
          <a:xfrm>
            <a:off x="7498080" y="420624"/>
            <a:ext cx="4160520" cy="310896"/>
          </a:xfrm>
          <a:prstGeom prst="rect">
            <a:avLst/>
          </a:prstGeom>
          <a:noFill/>
          <a:ln/>
        </p:spPr>
        <p:txBody>
          <a:bodyPr wrap="square" lIns="0" tIns="0" rIns="0" bIns="0" rtlCol="0" anchor="ctr"/>
          <a:lstStyle/>
          <a:p>
            <a:pPr algn="r" indent="0" marL="0">
              <a:buNone/>
            </a:pPr>
            <a:r>
              <a:rPr lang="en-US" sz="1300" b="1" dirty="0">
                <a:solidFill>
                  <a:srgbClr val="2F9E78"/>
                </a:solidFill>
                <a:latin typeface="Calibri" pitchFamily="34" charset="0"/>
                <a:ea typeface="Calibri" pitchFamily="34" charset="-122"/>
                <a:cs typeface="Calibri" pitchFamily="34" charset="-120"/>
              </a:rPr>
              <a:t>03 · NOTRE MODÈLE</a:t>
            </a:r>
            <a:endParaRPr lang="en-US" sz="1300" dirty="0"/>
          </a:p>
        </p:txBody>
      </p:sp>
      <p:sp>
        <p:nvSpPr>
          <p:cNvPr id="7" name="Text 5"/>
          <p:cNvSpPr txBox="1"/>
          <p:nvPr/>
        </p:nvSpPr>
        <p:spPr>
          <a:xfrm>
            <a:off x="548640" y="960120"/>
            <a:ext cx="11064240" cy="777240"/>
          </a:xfrm>
          <a:prstGeom prst="rect">
            <a:avLst/>
          </a:prstGeom>
          <a:noFill/>
          <a:ln/>
        </p:spPr>
        <p:txBody>
          <a:bodyPr wrap="square" lIns="0" tIns="0" rIns="0" bIns="0" rtlCol="0" anchor="ctr"/>
          <a:lstStyle/>
          <a:p>
            <a:pPr indent="0" marL="0">
              <a:buNone/>
            </a:pPr>
            <a:r>
              <a:rPr lang="en-US" sz="4000" b="1" dirty="0">
                <a:solidFill>
                  <a:srgbClr val="2D2440"/>
                </a:solidFill>
                <a:latin typeface="Calibri" pitchFamily="34" charset="0"/>
                <a:ea typeface="Calibri" pitchFamily="34" charset="-122"/>
                <a:cs typeface="Calibri" pitchFamily="34" charset="-120"/>
              </a:rPr>
              <a:t>Gratuit pour la victime. </a:t>
            </a:r>
            <a:pPr indent="0" marL="0">
              <a:buNone/>
            </a:pPr>
            <a:r>
              <a:rPr lang="en-US" sz="4000" b="1" dirty="0">
                <a:solidFill>
                  <a:srgbClr val="2F9E78"/>
                </a:solidFill>
                <a:latin typeface="Calibri" pitchFamily="34" charset="0"/>
                <a:ea typeface="Calibri" pitchFamily="34" charset="-122"/>
                <a:cs typeface="Calibri" pitchFamily="34" charset="-120"/>
              </a:rPr>
              <a:t>Toujours.</a:t>
            </a:r>
            <a:endParaRPr lang="en-US" sz="4000" dirty="0"/>
          </a:p>
        </p:txBody>
      </p:sp>
      <p:sp>
        <p:nvSpPr>
          <p:cNvPr id="8" name="Text 6"/>
          <p:cNvSpPr txBox="1"/>
          <p:nvPr/>
        </p:nvSpPr>
        <p:spPr>
          <a:xfrm>
            <a:off x="548640" y="1737360"/>
            <a:ext cx="11064240" cy="411480"/>
          </a:xfrm>
          <a:prstGeom prst="rect">
            <a:avLst/>
          </a:prstGeom>
          <a:noFill/>
          <a:ln/>
        </p:spPr>
        <p:txBody>
          <a:bodyPr wrap="square" lIns="0" tIns="0" rIns="0" bIns="0" rtlCol="0" anchor="ctr"/>
          <a:lstStyle/>
          <a:p>
            <a:pPr indent="0" marL="0">
              <a:buNone/>
            </a:pPr>
            <a:r>
              <a:rPr lang="en-US" sz="1700" dirty="0">
                <a:solidFill>
                  <a:srgbClr val="5E5670"/>
                </a:solidFill>
                <a:latin typeface="Calibri" pitchFamily="34" charset="0"/>
                <a:ea typeface="Calibri" pitchFamily="34" charset="-122"/>
                <a:cs typeface="Calibri" pitchFamily="34" charset="-120"/>
              </a:rPr>
              <a:t>Une victime ne devrait jamais avoir à payer pour faire valoir ses droits.</a:t>
            </a:r>
            <a:endParaRPr lang="en-US" sz="1700" dirty="0"/>
          </a:p>
        </p:txBody>
      </p:sp>
      <p:sp>
        <p:nvSpPr>
          <p:cNvPr id="9" name="Shape 7"/>
          <p:cNvSpPr/>
          <p:nvPr/>
        </p:nvSpPr>
        <p:spPr>
          <a:xfrm>
            <a:off x="548640" y="2331720"/>
            <a:ext cx="3520440" cy="2743200"/>
          </a:xfrm>
          <a:prstGeom prst="roundRect">
            <a:avLst>
              <a:gd name="adj" fmla="val 7333"/>
            </a:avLst>
          </a:prstGeom>
          <a:solidFill>
            <a:srgbClr val="FFE6DC"/>
          </a:solidFill>
          <a:ln w="12700">
            <a:solidFill>
              <a:srgbClr val="FFE6DC"/>
            </a:solidFill>
            <a:prstDash val="solid"/>
          </a:ln>
        </p:spPr>
      </p:sp>
      <p:sp>
        <p:nvSpPr>
          <p:cNvPr id="10" name="Text 8"/>
          <p:cNvSpPr txBox="1"/>
          <p:nvPr/>
        </p:nvSpPr>
        <p:spPr>
          <a:xfrm>
            <a:off x="822960" y="2514600"/>
            <a:ext cx="3017520" cy="365760"/>
          </a:xfrm>
          <a:prstGeom prst="rect">
            <a:avLst/>
          </a:prstGeom>
          <a:noFill/>
          <a:ln/>
        </p:spPr>
        <p:txBody>
          <a:bodyPr wrap="square" lIns="0" tIns="0" rIns="0" bIns="0" rtlCol="0" anchor="ctr"/>
          <a:lstStyle/>
          <a:p>
            <a:pPr indent="0" marL="0">
              <a:buNone/>
            </a:pPr>
            <a:r>
              <a:rPr lang="en-US" sz="1800" b="1" dirty="0">
                <a:solidFill>
                  <a:srgbClr val="FF8A65"/>
                </a:solidFill>
                <a:latin typeface="Calibri" pitchFamily="34" charset="0"/>
                <a:ea typeface="Calibri" pitchFamily="34" charset="-122"/>
                <a:cs typeface="Calibri" pitchFamily="34" charset="-120"/>
              </a:rPr>
              <a:t>Elle ne paie pas</a:t>
            </a:r>
            <a:endParaRPr lang="en-US" sz="1800" dirty="0"/>
          </a:p>
        </p:txBody>
      </p:sp>
      <p:sp>
        <p:nvSpPr>
          <p:cNvPr id="11" name="Text 9"/>
          <p:cNvSpPr txBox="1"/>
          <p:nvPr/>
        </p:nvSpPr>
        <p:spPr>
          <a:xfrm>
            <a:off x="822960" y="2944368"/>
            <a:ext cx="3017520" cy="20574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D2440"/>
                </a:solidFill>
                <a:latin typeface="Calibri" pitchFamily="34" charset="0"/>
                <a:ea typeface="Calibri" pitchFamily="34" charset="-122"/>
                <a:cs typeface="Calibri" pitchFamily="34" charset="-120"/>
              </a:rPr>
              <a:t>Elle ne doit pas risquer son argent sur un dossier qui, tristement, finit souvent sans suite : 640 plaintes sur 1 000 sans accusation.</a:t>
            </a:r>
            <a:endParaRPr lang="en-US" sz="1150" dirty="0"/>
          </a:p>
          <a:p>
            <a:pPr marL="177800" indent="-177800">
              <a:spcAft>
                <a:spcPts val="600"/>
              </a:spcAft>
              <a:buSzPct val="100000"/>
              <a:buChar char="•"/>
            </a:pPr>
            <a:r>
              <a:rPr lang="en-US" sz="1150" dirty="0">
                <a:solidFill>
                  <a:srgbClr val="2D2440"/>
                </a:solidFill>
                <a:latin typeface="Calibri" pitchFamily="34" charset="0"/>
                <a:ea typeface="Calibri" pitchFamily="34" charset="-122"/>
                <a:cs typeface="Calibri" pitchFamily="34" charset="-120"/>
              </a:rPr>
              <a:t>Son droit à se défendre ne dépend pas de ses moyens.</a:t>
            </a:r>
            <a:endParaRPr lang="en-US" sz="1150" dirty="0"/>
          </a:p>
          <a:p>
            <a:pPr marL="177800" indent="-177800">
              <a:spcAft>
                <a:spcPts val="600"/>
              </a:spcAft>
              <a:buSzPct val="100000"/>
              <a:buChar char="•"/>
            </a:pPr>
            <a:r>
              <a:rPr lang="en-US" sz="1150" dirty="0">
                <a:solidFill>
                  <a:srgbClr val="2D2440"/>
                </a:solidFill>
                <a:latin typeface="Calibri" pitchFamily="34" charset="0"/>
                <a:ea typeface="Calibri" pitchFamily="34" charset="-122"/>
                <a:cs typeface="Calibri" pitchFamily="34" charset="-120"/>
              </a:rPr>
              <a:t>Aucune pub, aucune revente de données, aucun abonnement.</a:t>
            </a:r>
            <a:endParaRPr lang="en-US" sz="1150" dirty="0"/>
          </a:p>
        </p:txBody>
      </p:sp>
      <p:sp>
        <p:nvSpPr>
          <p:cNvPr id="12" name="Shape 10"/>
          <p:cNvSpPr/>
          <p:nvPr/>
        </p:nvSpPr>
        <p:spPr>
          <a:xfrm>
            <a:off x="4297680" y="2331720"/>
            <a:ext cx="3520440" cy="2743200"/>
          </a:xfrm>
          <a:prstGeom prst="roundRect">
            <a:avLst>
              <a:gd name="adj" fmla="val 7333"/>
            </a:avLst>
          </a:prstGeom>
          <a:solidFill>
            <a:srgbClr val="EEE8FF"/>
          </a:solidFill>
          <a:ln w="12700">
            <a:solidFill>
              <a:srgbClr val="EEE8FF"/>
            </a:solidFill>
            <a:prstDash val="solid"/>
          </a:ln>
        </p:spPr>
      </p:sp>
      <p:sp>
        <p:nvSpPr>
          <p:cNvPr id="13" name="Text 11"/>
          <p:cNvSpPr txBox="1"/>
          <p:nvPr/>
        </p:nvSpPr>
        <p:spPr>
          <a:xfrm>
            <a:off x="4572000" y="2514600"/>
            <a:ext cx="3017520" cy="365760"/>
          </a:xfrm>
          <a:prstGeom prst="rect">
            <a:avLst/>
          </a:prstGeom>
          <a:noFill/>
          <a:ln/>
        </p:spPr>
        <p:txBody>
          <a:bodyPr wrap="square" lIns="0" tIns="0" rIns="0" bIns="0" rtlCol="0" anchor="ctr"/>
          <a:lstStyle/>
          <a:p>
            <a:pPr indent="0" marL="0">
              <a:buNone/>
            </a:pPr>
            <a:r>
              <a:rPr lang="en-US" sz="1800" b="1" dirty="0">
                <a:solidFill>
                  <a:srgbClr val="6A4CE0"/>
                </a:solidFill>
                <a:latin typeface="Calibri" pitchFamily="34" charset="0"/>
                <a:ea typeface="Calibri" pitchFamily="34" charset="-122"/>
                <a:cs typeface="Calibri" pitchFamily="34" charset="-120"/>
              </a:rPr>
              <a:t>L’État finance</a:t>
            </a:r>
            <a:endParaRPr lang="en-US" sz="1800" dirty="0"/>
          </a:p>
        </p:txBody>
      </p:sp>
      <p:sp>
        <p:nvSpPr>
          <p:cNvPr id="14" name="Text 12"/>
          <p:cNvSpPr txBox="1"/>
          <p:nvPr/>
        </p:nvSpPr>
        <p:spPr>
          <a:xfrm>
            <a:off x="4572000" y="2944368"/>
            <a:ext cx="3017520" cy="20574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D2440"/>
                </a:solidFill>
                <a:latin typeface="Calibri" pitchFamily="34" charset="0"/>
                <a:ea typeface="Calibri" pitchFamily="34" charset="-122"/>
                <a:cs typeface="Calibri" pitchFamily="34" charset="-120"/>
              </a:rPr>
              <a:t>Comme les centres désignés, Rebâtir ou l’IVAC, déjà publics et gratuits.</a:t>
            </a:r>
            <a:endParaRPr lang="en-US" sz="1150" dirty="0"/>
          </a:p>
          <a:p>
            <a:pPr marL="177800" indent="-177800">
              <a:spcAft>
                <a:spcPts val="600"/>
              </a:spcAft>
              <a:buSzPct val="100000"/>
              <a:buChar char="•"/>
            </a:pPr>
            <a:r>
              <a:rPr lang="en-US" sz="1150" dirty="0">
                <a:solidFill>
                  <a:srgbClr val="2D2440"/>
                </a:solidFill>
                <a:latin typeface="Calibri" pitchFamily="34" charset="0"/>
                <a:ea typeface="Calibri" pitchFamily="34" charset="-122"/>
                <a:cs typeface="Calibri" pitchFamily="34" charset="-120"/>
              </a:rPr>
              <a:t>Boussole relie ces services en un seul parcours.</a:t>
            </a:r>
            <a:endParaRPr lang="en-US" sz="1150" dirty="0"/>
          </a:p>
          <a:p>
            <a:pPr marL="177800" indent="-177800">
              <a:spcAft>
                <a:spcPts val="600"/>
              </a:spcAft>
              <a:buSzPct val="100000"/>
              <a:buChar char="•"/>
            </a:pPr>
            <a:r>
              <a:rPr lang="en-US" sz="1150" dirty="0">
                <a:solidFill>
                  <a:srgbClr val="2D2440"/>
                </a:solidFill>
                <a:latin typeface="Calibri" pitchFamily="34" charset="0"/>
                <a:ea typeface="Calibri" pitchFamily="34" charset="-122"/>
                <a:cs typeface="Calibri" pitchFamily="34" charset="-120"/>
              </a:rPr>
              <a:t>Modèle visé : subvention publique ou licence par région (ministères de la Santé et de la Justice).</a:t>
            </a:r>
            <a:endParaRPr lang="en-US" sz="1150" dirty="0"/>
          </a:p>
        </p:txBody>
      </p:sp>
      <p:sp>
        <p:nvSpPr>
          <p:cNvPr id="15" name="Shape 13"/>
          <p:cNvSpPr/>
          <p:nvPr/>
        </p:nvSpPr>
        <p:spPr>
          <a:xfrm>
            <a:off x="8046720" y="2331720"/>
            <a:ext cx="3520440" cy="2743200"/>
          </a:xfrm>
          <a:prstGeom prst="roundRect">
            <a:avLst>
              <a:gd name="adj" fmla="val 7333"/>
            </a:avLst>
          </a:prstGeom>
          <a:solidFill>
            <a:srgbClr val="DDF3E8"/>
          </a:solidFill>
          <a:ln w="12700">
            <a:solidFill>
              <a:srgbClr val="DDF3E8"/>
            </a:solidFill>
            <a:prstDash val="solid"/>
          </a:ln>
        </p:spPr>
      </p:sp>
      <p:sp>
        <p:nvSpPr>
          <p:cNvPr id="16" name="Text 14"/>
          <p:cNvSpPr txBox="1"/>
          <p:nvPr/>
        </p:nvSpPr>
        <p:spPr>
          <a:xfrm>
            <a:off x="8321040" y="2514600"/>
            <a:ext cx="3017520" cy="365760"/>
          </a:xfrm>
          <a:prstGeom prst="rect">
            <a:avLst/>
          </a:prstGeom>
          <a:noFill/>
          <a:ln/>
        </p:spPr>
        <p:txBody>
          <a:bodyPr wrap="square" lIns="0" tIns="0" rIns="0" bIns="0" rtlCol="0" anchor="ctr"/>
          <a:lstStyle/>
          <a:p>
            <a:pPr indent="0" marL="0">
              <a:buNone/>
            </a:pPr>
            <a:r>
              <a:rPr lang="en-US" sz="1800" b="1" dirty="0">
                <a:solidFill>
                  <a:srgbClr val="2F9E78"/>
                </a:solidFill>
                <a:latin typeface="Calibri" pitchFamily="34" charset="0"/>
                <a:ea typeface="Calibri" pitchFamily="34" charset="-122"/>
                <a:cs typeface="Calibri" pitchFamily="34" charset="-120"/>
              </a:rPr>
              <a:t>Tout est facilité</a:t>
            </a:r>
            <a:endParaRPr lang="en-US" sz="1800" dirty="0"/>
          </a:p>
        </p:txBody>
      </p:sp>
      <p:sp>
        <p:nvSpPr>
          <p:cNvPr id="17" name="Text 15"/>
          <p:cNvSpPr txBox="1"/>
          <p:nvPr/>
        </p:nvSpPr>
        <p:spPr>
          <a:xfrm>
            <a:off x="8321040" y="2944368"/>
            <a:ext cx="3017520" cy="20574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D2440"/>
                </a:solidFill>
                <a:latin typeface="Calibri" pitchFamily="34" charset="0"/>
                <a:ea typeface="Calibri" pitchFamily="34" charset="-122"/>
                <a:cs typeface="Calibri" pitchFamily="34" charset="-120"/>
              </a:rPr>
              <a:t>Un compte, un récit, un dossier : elle ne se répète pas.</a:t>
            </a:r>
            <a:endParaRPr lang="en-US" sz="1150" dirty="0"/>
          </a:p>
          <a:p>
            <a:pPr marL="177800" indent="-177800">
              <a:spcAft>
                <a:spcPts val="600"/>
              </a:spcAft>
              <a:buSzPct val="100000"/>
              <a:buChar char="•"/>
            </a:pPr>
            <a:r>
              <a:rPr lang="en-US" sz="1150" dirty="0">
                <a:solidFill>
                  <a:srgbClr val="2D2440"/>
                </a:solidFill>
                <a:latin typeface="Calibri" pitchFamily="34" charset="0"/>
                <a:ea typeface="Calibri" pitchFamily="34" charset="-122"/>
                <a:cs typeface="Calibri" pitchFamily="34" charset="-120"/>
              </a:rPr>
              <a:t>Les bons services au bon moment, sur une carte.</a:t>
            </a:r>
            <a:endParaRPr lang="en-US" sz="1150" dirty="0"/>
          </a:p>
          <a:p>
            <a:pPr marL="177800" indent="-177800">
              <a:spcAft>
                <a:spcPts val="600"/>
              </a:spcAft>
              <a:buSzPct val="100000"/>
              <a:buChar char="•"/>
            </a:pPr>
            <a:r>
              <a:rPr lang="en-US" sz="1150" dirty="0">
                <a:solidFill>
                  <a:srgbClr val="2D2440"/>
                </a:solidFill>
                <a:latin typeface="Calibri" pitchFamily="34" charset="0"/>
                <a:ea typeface="Calibri" pitchFamily="34" charset="-122"/>
                <a:cs typeface="Calibri" pitchFamily="34" charset="-120"/>
              </a:rPr>
              <a:t>Un avocat la rappelle quand elle est prête.</a:t>
            </a:r>
            <a:endParaRPr lang="en-US" sz="1150" dirty="0"/>
          </a:p>
        </p:txBody>
      </p:sp>
      <p:sp>
        <p:nvSpPr>
          <p:cNvPr id="18" name="Shape 16"/>
          <p:cNvSpPr/>
          <p:nvPr/>
        </p:nvSpPr>
        <p:spPr>
          <a:xfrm>
            <a:off x="548640" y="5303520"/>
            <a:ext cx="8138160" cy="1280160"/>
          </a:xfrm>
          <a:prstGeom prst="roundRect">
            <a:avLst>
              <a:gd name="adj" fmla="val 15714"/>
            </a:avLst>
          </a:prstGeom>
          <a:solidFill>
            <a:srgbClr val="2D2440"/>
          </a:solidFill>
          <a:ln w="12700">
            <a:solidFill>
              <a:srgbClr val="2D2440"/>
            </a:solidFill>
            <a:prstDash val="solid"/>
          </a:ln>
        </p:spPr>
      </p:sp>
      <p:sp>
        <p:nvSpPr>
          <p:cNvPr id="19" name="Text 17"/>
          <p:cNvSpPr txBox="1"/>
          <p:nvPr/>
        </p:nvSpPr>
        <p:spPr>
          <a:xfrm>
            <a:off x="822960" y="5413248"/>
            <a:ext cx="7680960" cy="685800"/>
          </a:xfrm>
          <a:prstGeom prst="rect">
            <a:avLst/>
          </a:prstGeom>
          <a:noFill/>
          <a:ln/>
        </p:spPr>
        <p:txBody>
          <a:bodyPr wrap="square" lIns="0" tIns="0" rIns="0" bIns="0" rtlCol="0" anchor="ctr"/>
          <a:lstStyle/>
          <a:p>
            <a:pPr indent="0" marL="0">
              <a:buNone/>
            </a:pPr>
            <a:r>
              <a:rPr lang="en-US" sz="1500" dirty="0">
                <a:solidFill>
                  <a:srgbClr val="FFF9F3"/>
                </a:solidFill>
                <a:latin typeface="Calibri" pitchFamily="34" charset="0"/>
                <a:ea typeface="Calibri" pitchFamily="34" charset="-122"/>
                <a:cs typeface="Calibri" pitchFamily="34" charset="-120"/>
              </a:rPr>
              <a:t>Ce qu’on demande : </a:t>
            </a:r>
            <a:pPr indent="0" marL="0">
              <a:buNone/>
            </a:pPr>
            <a:r>
              <a:rPr lang="en-US" sz="1500" b="1" dirty="0">
                <a:solidFill>
                  <a:srgbClr val="FF8A65"/>
                </a:solidFill>
                <a:latin typeface="Calibri" pitchFamily="34" charset="0"/>
                <a:ea typeface="Calibri" pitchFamily="34" charset="-122"/>
                <a:cs typeface="Calibri" pitchFamily="34" charset="-120"/>
              </a:rPr>
              <a:t>un pilote de 3 mois financé par l’État, avec un centre désigné de Montréal.</a:t>
            </a:r>
            <a:endParaRPr lang="en-US" sz="1500" dirty="0"/>
          </a:p>
        </p:txBody>
      </p:sp>
      <p:sp>
        <p:nvSpPr>
          <p:cNvPr id="20" name="Text 18"/>
          <p:cNvSpPr txBox="1"/>
          <p:nvPr/>
        </p:nvSpPr>
        <p:spPr>
          <a:xfrm>
            <a:off x="822960" y="6126480"/>
            <a:ext cx="7680960" cy="347472"/>
          </a:xfrm>
          <a:prstGeom prst="rect">
            <a:avLst/>
          </a:prstGeom>
          <a:noFill/>
          <a:ln/>
        </p:spPr>
        <p:txBody>
          <a:bodyPr wrap="square" lIns="0" tIns="0" rIns="0" bIns="0" rtlCol="0" anchor="ctr"/>
          <a:lstStyle/>
          <a:p>
            <a:pPr indent="0" marL="0">
              <a:buNone/>
            </a:pPr>
            <a:r>
              <a:rPr lang="en-US" sz="1150" i="1" dirty="0">
                <a:solidFill>
                  <a:srgbClr val="C9C2D6"/>
                </a:solidFill>
                <a:latin typeface="Calibri" pitchFamily="34" charset="0"/>
                <a:ea typeface="Calibri" pitchFamily="34" charset="-122"/>
                <a:cs typeface="Calibri" pitchFamily="34" charset="-120"/>
              </a:rPr>
              <a:t>« On ne remplace pas l’humain auprès de la victime. On lui rend le temps de l’être. »</a:t>
            </a:r>
            <a:endParaRPr lang="en-US" sz="1150" dirty="0"/>
          </a:p>
        </p:txBody>
      </p:sp>
      <p:sp>
        <p:nvSpPr>
          <p:cNvPr id="21" name="Shape 19"/>
          <p:cNvSpPr/>
          <p:nvPr/>
        </p:nvSpPr>
        <p:spPr>
          <a:xfrm>
            <a:off x="8915400" y="5303520"/>
            <a:ext cx="2724912" cy="1280160"/>
          </a:xfrm>
          <a:prstGeom prst="roundRect">
            <a:avLst>
              <a:gd name="adj" fmla="val 15714"/>
            </a:avLst>
          </a:prstGeom>
          <a:solidFill>
            <a:srgbClr val="FFFFFF"/>
          </a:solidFill>
          <a:ln w="12700">
            <a:solidFill>
              <a:srgbClr val="FFFFFF"/>
            </a:solidFill>
            <a:prstDash val="solid"/>
          </a:ln>
        </p:spPr>
      </p:sp>
      <p:pic>
        <p:nvPicPr>
          <p:cNvPr id="22" name="Image 0" descr="/home/user/hackathon-codeML-SAA/boussole/pitch/assets/qr-boussole.png">    </p:cNvPr>
          <p:cNvPicPr>
            <a:picLocks noChangeAspect="1"/>
          </p:cNvPicPr>
          <p:nvPr/>
        </p:nvPicPr>
        <p:blipFill>
          <a:blip r:embed="rId1"/>
          <a:stretch>
            <a:fillRect/>
          </a:stretch>
        </p:blipFill>
        <p:spPr>
          <a:xfrm>
            <a:off x="9006840" y="5367528"/>
            <a:ext cx="1152144" cy="1152144"/>
          </a:xfrm>
          <a:prstGeom prst="rect">
            <a:avLst/>
          </a:prstGeom>
        </p:spPr>
      </p:pic>
      <p:sp>
        <p:nvSpPr>
          <p:cNvPr id="23" name="Text 20"/>
          <p:cNvSpPr txBox="1"/>
          <p:nvPr/>
        </p:nvSpPr>
        <p:spPr>
          <a:xfrm>
            <a:off x="10195560" y="5532120"/>
            <a:ext cx="1371600" cy="457200"/>
          </a:xfrm>
          <a:prstGeom prst="rect">
            <a:avLst/>
          </a:prstGeom>
          <a:noFill/>
          <a:ln/>
        </p:spPr>
        <p:txBody>
          <a:bodyPr wrap="square" lIns="0" tIns="0" rIns="0" bIns="0" rtlCol="0" anchor="t"/>
          <a:lstStyle/>
          <a:p>
            <a:pPr indent="0" marL="0">
              <a:buNone/>
            </a:pPr>
            <a:r>
              <a:rPr lang="en-US" sz="1300" b="1" dirty="0">
                <a:solidFill>
                  <a:srgbClr val="2D2440"/>
                </a:solidFill>
                <a:latin typeface="Calibri" pitchFamily="34" charset="0"/>
                <a:ea typeface="Calibri" pitchFamily="34" charset="-122"/>
                <a:cs typeface="Calibri" pitchFamily="34" charset="-120"/>
              </a:rPr>
              <a:t>Essayez la bêta</a:t>
            </a:r>
            <a:endParaRPr lang="en-US" sz="1300" dirty="0"/>
          </a:p>
        </p:txBody>
      </p:sp>
      <p:sp>
        <p:nvSpPr>
          <p:cNvPr id="24" name="Text 21"/>
          <p:cNvSpPr txBox="1"/>
          <p:nvPr/>
        </p:nvSpPr>
        <p:spPr>
          <a:xfrm>
            <a:off x="10195560" y="6035040"/>
            <a:ext cx="1417320" cy="411480"/>
          </a:xfrm>
          <a:prstGeom prst="rect">
            <a:avLst/>
          </a:prstGeom>
          <a:noFill/>
          <a:ln/>
        </p:spPr>
        <p:txBody>
          <a:bodyPr wrap="square" lIns="0" tIns="0" rIns="0" bIns="0" rtlCol="0" anchor="t"/>
          <a:lstStyle/>
          <a:p>
            <a:pPr indent="0" marL="0">
              <a:buNone/>
            </a:pPr>
            <a:r>
              <a:rPr lang="en-US" sz="850" dirty="0">
                <a:solidFill>
                  <a:srgbClr val="5E5670"/>
                </a:solidFill>
                <a:latin typeface="Calibri" pitchFamily="34" charset="0"/>
                <a:ea typeface="Calibri" pitchFamily="34" charset="-122"/>
                <a:cs typeface="Calibri" pitchFamily="34" charset="-120"/>
              </a:rPr>
              <a:t>boussole-beta.vercel.app</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Boussole · pitch</dc:title>
  <dc:subject>PptxGenJS Presentation</dc:subject>
  <dc:creator>PptxGenJS</dc:creator>
  <cp:lastModifiedBy>PptxGenJS</cp:lastModifiedBy>
  <cp:revision>1</cp:revision>
  <dcterms:created xsi:type="dcterms:W3CDTF">2026-10-04T02:48:34Z</dcterms:created>
  <dcterms:modified xsi:type="dcterms:W3CDTF">2026-10-04T02:48:34Z</dcterms:modified>
</cp:coreProperties>
</file>